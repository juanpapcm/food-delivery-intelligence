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3" r:id="rId2"/>
  </p:sldMasterIdLst>
  <p:notesMasterIdLst>
    <p:notesMasterId r:id="rId18"/>
  </p:notesMasterIdLst>
  <p:sldIdLst>
    <p:sldId id="267" r:id="rId3"/>
    <p:sldId id="268" r:id="rId4"/>
    <p:sldId id="269" r:id="rId5"/>
    <p:sldId id="270" r:id="rId6"/>
    <p:sldId id="271" r:id="rId7"/>
    <p:sldId id="273" r:id="rId8"/>
    <p:sldId id="274" r:id="rId9"/>
    <p:sldId id="275" r:id="rId10"/>
    <p:sldId id="276" r:id="rId11"/>
    <p:sldId id="282" r:id="rId12"/>
    <p:sldId id="279" r:id="rId13"/>
    <p:sldId id="280" r:id="rId14"/>
    <p:sldId id="277" r:id="rId15"/>
    <p:sldId id="278" r:id="rId16"/>
    <p:sldId id="28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0"/>
    <p:restoredTop sz="84599"/>
  </p:normalViewPr>
  <p:slideViewPr>
    <p:cSldViewPr snapToGrid="0">
      <p:cViewPr varScale="1">
        <p:scale>
          <a:sx n="85" d="100"/>
          <a:sy n="85" d="100"/>
        </p:scale>
        <p:origin x="172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F172A"/>
                </a:solidFill>
                <a:latin typeface="Arial"/>
              </a:rPr>
              <a:t>Distance (km) vs Avg Delivery Time (min)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Delivery Time</c:v>
                </c:pt>
              </c:strCache>
            </c:strRef>
          </c:tx>
          <c:spPr>
            <a:ln w="25400" cap="flat">
              <a:solidFill>
                <a:srgbClr val="0EA5E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1.44</c:v>
                </c:pt>
                <c:pt idx="1">
                  <c:v>3.15</c:v>
                </c:pt>
                <c:pt idx="2">
                  <c:v>5</c:v>
                </c:pt>
                <c:pt idx="3">
                  <c:v>7.02</c:v>
                </c:pt>
                <c:pt idx="4">
                  <c:v>9.01</c:v>
                </c:pt>
                <c:pt idx="5">
                  <c:v>11.08</c:v>
                </c:pt>
                <c:pt idx="6">
                  <c:v>12.87</c:v>
                </c:pt>
                <c:pt idx="7">
                  <c:v>15.01</c:v>
                </c:pt>
                <c:pt idx="8">
                  <c:v>17.12</c:v>
                </c:pt>
                <c:pt idx="9">
                  <c:v>18.97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29.78</c:v>
                </c:pt>
                <c:pt idx="1">
                  <c:v>35.799999999999997</c:v>
                </c:pt>
                <c:pt idx="2">
                  <c:v>42.97</c:v>
                </c:pt>
                <c:pt idx="3">
                  <c:v>47.62</c:v>
                </c:pt>
                <c:pt idx="4">
                  <c:v>53.6</c:v>
                </c:pt>
                <c:pt idx="5">
                  <c:v>58.96</c:v>
                </c:pt>
                <c:pt idx="6">
                  <c:v>64.239999999999995</c:v>
                </c:pt>
                <c:pt idx="7">
                  <c:v>72.7</c:v>
                </c:pt>
                <c:pt idx="8">
                  <c:v>77.849999999999994</c:v>
                </c:pt>
                <c:pt idx="9">
                  <c:v>83.97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899-4F4D-B503-11B3BB0BF5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 (r=0.78)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1.44</c:v>
                </c:pt>
                <c:pt idx="1">
                  <c:v>3.15</c:v>
                </c:pt>
                <c:pt idx="2">
                  <c:v>5</c:v>
                </c:pt>
                <c:pt idx="3">
                  <c:v>7.02</c:v>
                </c:pt>
                <c:pt idx="4">
                  <c:v>9.01</c:v>
                </c:pt>
                <c:pt idx="5">
                  <c:v>11.08</c:v>
                </c:pt>
                <c:pt idx="6">
                  <c:v>12.87</c:v>
                </c:pt>
                <c:pt idx="7">
                  <c:v>15.01</c:v>
                </c:pt>
                <c:pt idx="8">
                  <c:v>17.12</c:v>
                </c:pt>
                <c:pt idx="9">
                  <c:v>18.97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30.61</c:v>
                </c:pt>
                <c:pt idx="1">
                  <c:v>35.79</c:v>
                </c:pt>
                <c:pt idx="2">
                  <c:v>41.39</c:v>
                </c:pt>
                <c:pt idx="3">
                  <c:v>47.52</c:v>
                </c:pt>
                <c:pt idx="4">
                  <c:v>53.55</c:v>
                </c:pt>
                <c:pt idx="5">
                  <c:v>59.82</c:v>
                </c:pt>
                <c:pt idx="6">
                  <c:v>65.239999999999995</c:v>
                </c:pt>
                <c:pt idx="7">
                  <c:v>71.73</c:v>
                </c:pt>
                <c:pt idx="8">
                  <c:v>78.12</c:v>
                </c:pt>
                <c:pt idx="9">
                  <c:v>83.73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899-4F4D-B503-11B3BB0BF5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E2E8F0"/>
                </a:solidFill>
                <a:latin typeface="Arial"/>
              </a:rPr>
              <a:t>Delivery Time Distribution (min)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Deliveries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0-10</c:v>
                </c:pt>
                <c:pt idx="1">
                  <c:v>10-20</c:v>
                </c:pt>
                <c:pt idx="2">
                  <c:v>20-30</c:v>
                </c:pt>
                <c:pt idx="3">
                  <c:v>30-40</c:v>
                </c:pt>
                <c:pt idx="4">
                  <c:v>40-50</c:v>
                </c:pt>
                <c:pt idx="5">
                  <c:v>50-60</c:v>
                </c:pt>
                <c:pt idx="6">
                  <c:v>60-70</c:v>
                </c:pt>
                <c:pt idx="7">
                  <c:v>70-80</c:v>
                </c:pt>
                <c:pt idx="8">
                  <c:v>80-90</c:v>
                </c:pt>
                <c:pt idx="9">
                  <c:v>90-100</c:v>
                </c:pt>
                <c:pt idx="10">
                  <c:v>100-110</c:v>
                </c:pt>
                <c:pt idx="11">
                  <c:v>110-120</c:v>
                </c:pt>
                <c:pt idx="12">
                  <c:v>120+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22</c:v>
                </c:pt>
                <c:pt idx="2">
                  <c:v>80</c:v>
                </c:pt>
                <c:pt idx="3">
                  <c:v>137</c:v>
                </c:pt>
                <c:pt idx="4">
                  <c:v>172</c:v>
                </c:pt>
                <c:pt idx="5">
                  <c:v>155</c:v>
                </c:pt>
                <c:pt idx="6">
                  <c:v>156</c:v>
                </c:pt>
                <c:pt idx="7">
                  <c:v>135</c:v>
                </c:pt>
                <c:pt idx="8">
                  <c:v>62</c:v>
                </c:pt>
                <c:pt idx="9">
                  <c:v>42</c:v>
                </c:pt>
                <c:pt idx="10">
                  <c:v>23</c:v>
                </c:pt>
                <c:pt idx="11">
                  <c:v>9</c:v>
                </c:pt>
                <c:pt idx="1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BE-1245-A193-C7008F0F1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755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E2E8F0"/>
                </a:solidFill>
                <a:latin typeface="Arial"/>
              </a:rPr>
              <a:t>Median by Traffic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(min)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</c:v>
                </c:pt>
                <c:pt idx="1">
                  <c:v>53.5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78-C349-B0E5-B2516ECD65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755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E2E8F0"/>
                </a:solidFill>
                <a:latin typeface="Arial"/>
              </a:rPr>
              <a:t>Median by Weather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(min)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Clear</c:v>
                </c:pt>
                <c:pt idx="1">
                  <c:v>Windy</c:v>
                </c:pt>
                <c:pt idx="2">
                  <c:v>Rainy</c:v>
                </c:pt>
                <c:pt idx="3">
                  <c:v>Foggy</c:v>
                </c:pt>
                <c:pt idx="4">
                  <c:v>Snowy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55</c:v>
                </c:pt>
                <c:pt idx="2">
                  <c:v>57.5</c:v>
                </c:pt>
                <c:pt idx="3">
                  <c:v>59</c:v>
                </c:pt>
                <c:pt idx="4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7F-7349-8A22-B6923B13FE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755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MAE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6.84</c:v>
                </c:pt>
                <c:pt idx="1">
                  <c:v>7.61</c:v>
                </c:pt>
                <c:pt idx="2">
                  <c:v>7.78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A1-784F-86A8-39649534B6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 RMSE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11.02</c:v>
                </c:pt>
                <c:pt idx="1">
                  <c:v>11.81</c:v>
                </c:pt>
                <c:pt idx="2">
                  <c:v>12.2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A1-784F-86A8-39649534B6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Std. effect (min)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Distance_km</c:v>
                </c:pt>
                <c:pt idx="1">
                  <c:v>Prep_Time</c:v>
                </c:pt>
                <c:pt idx="2">
                  <c:v>Traffic_Ord</c:v>
                </c:pt>
                <c:pt idx="3">
                  <c:v>Weather=Clear</c:v>
                </c:pt>
                <c:pt idx="4">
                  <c:v>Experience_yrs</c:v>
                </c:pt>
                <c:pt idx="5">
                  <c:v>Weather=Snowy</c:v>
                </c:pt>
                <c:pt idx="6">
                  <c:v>ToD=Morning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17.09</c:v>
                </c:pt>
                <c:pt idx="1">
                  <c:v>7.03</c:v>
                </c:pt>
                <c:pt idx="2">
                  <c:v>4.18</c:v>
                </c:pt>
                <c:pt idx="3">
                  <c:v>2.2400000000000002</c:v>
                </c:pt>
                <c:pt idx="4">
                  <c:v>1.83</c:v>
                </c:pt>
                <c:pt idx="5">
                  <c:v>1.46</c:v>
                </c:pt>
                <c:pt idx="6">
                  <c:v>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08-224B-BC72-6A96CEC52B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4755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(min)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Foggy</c:v>
                </c:pt>
                <c:pt idx="1">
                  <c:v>High traffic</c:v>
                </c:pt>
                <c:pt idx="2">
                  <c:v>Dist 12+km</c:v>
                </c:pt>
                <c:pt idx="3">
                  <c:v>Night</c:v>
                </c:pt>
                <c:pt idx="4">
                  <c:v>Clear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9.57</c:v>
                </c:pt>
                <c:pt idx="1">
                  <c:v>7.95</c:v>
                </c:pt>
                <c:pt idx="2">
                  <c:v>7.89</c:v>
                </c:pt>
                <c:pt idx="3">
                  <c:v>5.29</c:v>
                </c:pt>
                <c:pt idx="4">
                  <c:v>4.83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DD-4849-9205-BDD9252FC6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Bias (min)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Foggy</c:v>
                </c:pt>
                <c:pt idx="1">
                  <c:v>High traffic</c:v>
                </c:pt>
                <c:pt idx="2">
                  <c:v>Dist 12+km</c:v>
                </c:pt>
                <c:pt idx="3">
                  <c:v>Night</c:v>
                </c:pt>
                <c:pt idx="4">
                  <c:v>Clear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5.51</c:v>
                </c:pt>
                <c:pt idx="1">
                  <c:v>2.4500000000000002</c:v>
                </c:pt>
                <c:pt idx="2">
                  <c:v>-0.92</c:v>
                </c:pt>
                <c:pt idx="3">
                  <c:v>4.29</c:v>
                </c:pt>
                <c:pt idx="4">
                  <c:v>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DD-4849-9205-BDD9252FC6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1CA07-8489-D24B-B812-443D47C70657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DAA8E-2D91-BD4E-9043-5F4E208F0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97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DAA8E-2D91-BD4E-9043-5F4E208F04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48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DAA8E-2D91-BD4E-9043-5F4E208F045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91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DAA8E-2D91-BD4E-9043-5F4E208F045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98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DAA8E-2D91-BD4E-9043-5F4E208F04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38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DAA8E-2D91-BD4E-9043-5F4E208F045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094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DAA8E-2D91-BD4E-9043-5F4E208F045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39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DAA8E-2D91-BD4E-9043-5F4E208F045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45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AFD9A-B90B-CFCC-5A17-EE067407E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A9883-65F9-7438-AAEA-6C47FB936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AAD1E-E0DF-8DEE-01E8-1B0823988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8CB0A-0F3F-591A-93B9-61C499C19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DAA8E-2D91-BD4E-9043-5F4E208F045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12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DAA8E-2D91-BD4E-9043-5F4E208F045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03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47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18741" y="1122363"/>
            <a:ext cx="7068459" cy="2387600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18741" y="3602037"/>
            <a:ext cx="7068459" cy="1655763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A0D2EF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6D79ED-3FA7-4EF8-964B-EB8BCFAB02F8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49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18741" y="1122363"/>
            <a:ext cx="7068459" cy="2387600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18741" y="3602037"/>
            <a:ext cx="7068459" cy="1655763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A0D2EF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6D79ED-3FA7-4EF8-964B-EB8BCFAB02F8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18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92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9" y="1709740"/>
            <a:ext cx="10515600" cy="285273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9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122573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8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00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59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17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57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37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12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075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89611"/>
            <a:ext cx="10515600" cy="438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22573"/>
                </a:solidFill>
              </a:defRPr>
            </a:lvl1pPr>
          </a:lstStyle>
          <a:p>
            <a:fld id="{276D79ED-3FA7-4EF8-964B-EB8BCFAB02F8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12257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22573"/>
                </a:solidFill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10474" y="4914981"/>
            <a:ext cx="896556" cy="32439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 rot="16200000">
            <a:off x="-2113768" y="2546066"/>
            <a:ext cx="38886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Find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m</a:t>
            </a:r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ore PowerPoint templates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on </a:t>
            </a:r>
            <a:r>
              <a:rPr lang="bs-Latn-BA" sz="1200" b="1" baseline="0" dirty="0">
                <a:solidFill>
                  <a:schemeClr val="bg1">
                    <a:lumMod val="65000"/>
                  </a:schemeClr>
                </a:solidFill>
              </a:rPr>
              <a:t>prezentr.com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!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50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</p:sldLayoutIdLst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22573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22573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22573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22573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22573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22573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anpapcm/food-delivery-intelligence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Food Delivery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Operational Intelligence in urban logistics. A way to use ML to optimize processes.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144F9-1651-0A7A-BDC0-AE9F3D781AF1}"/>
              </a:ext>
            </a:extLst>
          </p:cNvPr>
          <p:cNvSpPr txBox="1"/>
          <p:nvPr/>
        </p:nvSpPr>
        <p:spPr>
          <a:xfrm>
            <a:off x="7665157" y="6319026"/>
            <a:ext cx="4515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sz="2400" i="1" dirty="0">
                <a:solidFill>
                  <a:prstClr val="white"/>
                </a:solidFill>
                <a:latin typeface="Calibri" panose="020F0502020204030204"/>
              </a:rPr>
              <a:t>Candidate: Juan Pablo Perez-Cerda</a:t>
            </a:r>
          </a:p>
        </p:txBody>
      </p:sp>
    </p:spTree>
    <p:extLst>
      <p:ext uri="{BB962C8B-B14F-4D97-AF65-F5344CB8AC3E}">
        <p14:creationId xmlns:p14="http://schemas.microsoft.com/office/powerpoint/2010/main" val="292420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73C3345C-DB0D-1D2D-2E52-EBF0F8D479D5}"/>
              </a:ext>
            </a:extLst>
          </p:cNvPr>
          <p:cNvSpPr/>
          <p:nvPr/>
        </p:nvSpPr>
        <p:spPr>
          <a:xfrm>
            <a:off x="731520" y="426720"/>
            <a:ext cx="1341120" cy="463296"/>
          </a:xfrm>
          <a:prstGeom prst="rect">
            <a:avLst/>
          </a:prstGeom>
          <a:solidFill>
            <a:srgbClr val="EF4444"/>
          </a:solidFill>
          <a:ln/>
        </p:spPr>
        <p:txBody>
          <a:bodyPr anchor="ctr"/>
          <a:lstStyle/>
          <a:p>
            <a:pPr algn="ctr" defTabSz="1219170"/>
            <a:r>
              <a:rPr lang="en-US" sz="1600" dirty="0">
                <a:solidFill>
                  <a:prstClr val="white"/>
                </a:solidFill>
                <a:latin typeface="Trebuchet MS" panose="020B0603020202020204"/>
              </a:rPr>
              <a:t>Context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29484C8-25E8-0C70-784A-357B15E5474E}"/>
              </a:ext>
            </a:extLst>
          </p:cNvPr>
          <p:cNvSpPr/>
          <p:nvPr/>
        </p:nvSpPr>
        <p:spPr>
          <a:xfrm>
            <a:off x="2255520" y="365760"/>
            <a:ext cx="731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delivery problem</a:t>
            </a:r>
            <a:endParaRPr lang="en-US" sz="37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1DC1ACD-393B-526D-3069-A1F3D54A5212}"/>
              </a:ext>
            </a:extLst>
          </p:cNvPr>
          <p:cNvSpPr/>
          <p:nvPr/>
        </p:nvSpPr>
        <p:spPr>
          <a:xfrm>
            <a:off x="731521" y="1402080"/>
            <a:ext cx="9349457" cy="1402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FF94981-D153-01F9-3928-7E02134BC7CB}"/>
              </a:ext>
            </a:extLst>
          </p:cNvPr>
          <p:cNvSpPr/>
          <p:nvPr/>
        </p:nvSpPr>
        <p:spPr>
          <a:xfrm>
            <a:off x="731520" y="1402080"/>
            <a:ext cx="74371" cy="1402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57F35A4-E835-FFC3-FA8B-7B0D546F1336}"/>
              </a:ext>
            </a:extLst>
          </p:cNvPr>
          <p:cNvSpPr/>
          <p:nvPr/>
        </p:nvSpPr>
        <p:spPr>
          <a:xfrm>
            <a:off x="1158240" y="1548384"/>
            <a:ext cx="871199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Complaints rising, causes unclear</a:t>
            </a:r>
            <a:endParaRPr lang="en-US" sz="21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D5D0862-E404-930E-8422-2279CF26E46D}"/>
              </a:ext>
            </a:extLst>
          </p:cNvPr>
          <p:cNvSpPr/>
          <p:nvPr/>
        </p:nvSpPr>
        <p:spPr>
          <a:xfrm>
            <a:off x="1158240" y="2036064"/>
            <a:ext cx="871199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report late deliveries but the Ops team has no data-driven way to diagnose why or where delays happen.</a:t>
            </a:r>
            <a:endParaRPr lang="en-US" sz="16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2E99BDD-85B2-0FDC-46B7-2D0F56F130FD}"/>
              </a:ext>
            </a:extLst>
          </p:cNvPr>
          <p:cNvSpPr/>
          <p:nvPr/>
        </p:nvSpPr>
        <p:spPr>
          <a:xfrm>
            <a:off x="731521" y="3108960"/>
            <a:ext cx="9349457" cy="1402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AAB69E4-8713-2CFD-4AAF-0B47C21AFACC}"/>
              </a:ext>
            </a:extLst>
          </p:cNvPr>
          <p:cNvSpPr/>
          <p:nvPr/>
        </p:nvSpPr>
        <p:spPr>
          <a:xfrm>
            <a:off x="731520" y="3108960"/>
            <a:ext cx="74371" cy="1402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0BFD85E-A2BC-6CEC-DF1D-41C46B93B2C9}"/>
              </a:ext>
            </a:extLst>
          </p:cNvPr>
          <p:cNvSpPr/>
          <p:nvPr/>
        </p:nvSpPr>
        <p:spPr>
          <a:xfrm>
            <a:off x="1158240" y="3255264"/>
            <a:ext cx="871199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predictive ETA</a:t>
            </a:r>
            <a:endParaRPr lang="en-US" sz="21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F5F2284-835C-9566-AECD-5B27A0D7EE7C}"/>
              </a:ext>
            </a:extLst>
          </p:cNvPr>
          <p:cNvSpPr/>
          <p:nvPr/>
        </p:nvSpPr>
        <p:spPr>
          <a:xfrm>
            <a:off x="1158240" y="3742944"/>
            <a:ext cx="871199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estimates are static rules. They ignore weather, traffic, courier experience, and prep time - factors that shift delivery time by 5-17 minutes.</a:t>
            </a:r>
            <a:endParaRPr lang="en-US" sz="16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9D4EC0D-481B-5B30-D9B7-E862336B38F4}"/>
              </a:ext>
            </a:extLst>
          </p:cNvPr>
          <p:cNvSpPr/>
          <p:nvPr/>
        </p:nvSpPr>
        <p:spPr>
          <a:xfrm>
            <a:off x="731521" y="4815840"/>
            <a:ext cx="9349457" cy="1402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289A472-C4FB-F1D5-704F-A0D238B3E0E0}"/>
              </a:ext>
            </a:extLst>
          </p:cNvPr>
          <p:cNvSpPr/>
          <p:nvPr/>
        </p:nvSpPr>
        <p:spPr>
          <a:xfrm>
            <a:off x="731520" y="4815840"/>
            <a:ext cx="74371" cy="1402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F7F4163-8830-66D9-F645-FA080590F592}"/>
              </a:ext>
            </a:extLst>
          </p:cNvPr>
          <p:cNvSpPr/>
          <p:nvPr/>
        </p:nvSpPr>
        <p:spPr>
          <a:xfrm>
            <a:off x="1158240" y="4962144"/>
            <a:ext cx="871199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 can't act proactively</a:t>
            </a:r>
            <a:endParaRPr lang="en-US" sz="21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79CBC4D-D974-8365-9BA4-8BA4FA8097A7}"/>
              </a:ext>
            </a:extLst>
          </p:cNvPr>
          <p:cNvSpPr/>
          <p:nvPr/>
        </p:nvSpPr>
        <p:spPr>
          <a:xfrm>
            <a:off x="1158240" y="5449824"/>
            <a:ext cx="871199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predictions, the team reacts to complaints after the fact instead of pre-allocating couriers or adjusting expectations.</a:t>
            </a:r>
            <a:endParaRPr lang="en-US" sz="1667" dirty="0">
              <a:solidFill>
                <a:prstClr val="black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59971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A4847-872A-25FA-BA51-89C0C3F33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BD2DF2-84DF-982D-9D21-1B0604412B17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C3EC5C-E2DF-17EC-1157-7951FED7A036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97334D7B-4218-A60E-8696-A0E694140430}"/>
              </a:ext>
            </a:extLst>
          </p:cNvPr>
          <p:cNvSpPr/>
          <p:nvPr/>
        </p:nvSpPr>
        <p:spPr>
          <a:xfrm>
            <a:off x="609600" y="1341120"/>
            <a:ext cx="2560320" cy="4145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A24DC89F-5427-0855-ED4B-3FC8A0A6517C}"/>
              </a:ext>
            </a:extLst>
          </p:cNvPr>
          <p:cNvSpPr/>
          <p:nvPr/>
        </p:nvSpPr>
        <p:spPr>
          <a:xfrm>
            <a:off x="707136" y="146304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3A023BF8-3D03-2889-0700-EE2E9DE51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767840"/>
            <a:ext cx="731520" cy="731520"/>
          </a:xfrm>
          <a:prstGeom prst="rect">
            <a:avLst/>
          </a:prstGeom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id="{BA2397FA-AB7A-CCB8-3D5F-1D96E2DB93F5}"/>
              </a:ext>
            </a:extLst>
          </p:cNvPr>
          <p:cNvSpPr/>
          <p:nvPr/>
        </p:nvSpPr>
        <p:spPr>
          <a:xfrm>
            <a:off x="609600" y="2804160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Analysis</a:t>
            </a:r>
            <a:endParaRPr lang="en-US" sz="21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8A261FC4-F83A-03E8-8236-9CE09A8A58FC}"/>
              </a:ext>
            </a:extLst>
          </p:cNvPr>
          <p:cNvSpPr/>
          <p:nvPr/>
        </p:nvSpPr>
        <p:spPr>
          <a:xfrm>
            <a:off x="792480" y="3535680"/>
            <a:ext cx="21945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operational queries + 4 bonus business insights on deliveries, couriers, restaurants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6CE060C8-8DBD-437E-3B1A-C1F208096F7B}"/>
              </a:ext>
            </a:extLst>
          </p:cNvPr>
          <p:cNvSpPr/>
          <p:nvPr/>
        </p:nvSpPr>
        <p:spPr>
          <a:xfrm>
            <a:off x="3474720" y="1341120"/>
            <a:ext cx="2560320" cy="4145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EBCBE5AC-42D5-FDFD-1139-5CB2795CBFAD}"/>
              </a:ext>
            </a:extLst>
          </p:cNvPr>
          <p:cNvSpPr/>
          <p:nvPr/>
        </p:nvSpPr>
        <p:spPr>
          <a:xfrm>
            <a:off x="3572256" y="146304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D31DE7D6-5AB5-7D5A-8C39-A42981C15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767840"/>
            <a:ext cx="731520" cy="731520"/>
          </a:xfrm>
          <a:prstGeom prst="rect">
            <a:avLst/>
          </a:prstGeom>
        </p:spPr>
      </p:pic>
      <p:sp>
        <p:nvSpPr>
          <p:cNvPr id="27" name="Text 9">
            <a:extLst>
              <a:ext uri="{FF2B5EF4-FFF2-40B4-BE49-F238E27FC236}">
                <a16:creationId xmlns:a16="http://schemas.microsoft.com/office/drawing/2014/main" id="{D1DD7B83-B8D2-1EC3-5809-0DB69CC912BA}"/>
              </a:ext>
            </a:extLst>
          </p:cNvPr>
          <p:cNvSpPr/>
          <p:nvPr/>
        </p:nvSpPr>
        <p:spPr>
          <a:xfrm>
            <a:off x="3474720" y="2804160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</a:t>
            </a:r>
            <a:endParaRPr lang="en-US" sz="21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251291AF-372A-89F3-F98B-615A095A7E40}"/>
              </a:ext>
            </a:extLst>
          </p:cNvPr>
          <p:cNvSpPr/>
          <p:nvPr/>
        </p:nvSpPr>
        <p:spPr>
          <a:xfrm>
            <a:off x="3657600" y="3535680"/>
            <a:ext cx="21945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 (r=0.78), outlier detection across 1,000 deliveries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3E43B7AA-7FCF-734F-176A-BFFA5336518F}"/>
              </a:ext>
            </a:extLst>
          </p:cNvPr>
          <p:cNvSpPr/>
          <p:nvPr/>
        </p:nvSpPr>
        <p:spPr>
          <a:xfrm>
            <a:off x="6339840" y="1341120"/>
            <a:ext cx="2560320" cy="4145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14F8A9FE-F9BA-E199-0CA1-8F3A90110004}"/>
              </a:ext>
            </a:extLst>
          </p:cNvPr>
          <p:cNvSpPr/>
          <p:nvPr/>
        </p:nvSpPr>
        <p:spPr>
          <a:xfrm>
            <a:off x="6437376" y="146304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33F552EA-F1EB-625C-25BB-D39EE47EE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4240" y="1767840"/>
            <a:ext cx="731520" cy="731520"/>
          </a:xfrm>
          <a:prstGeom prst="rect">
            <a:avLst/>
          </a:prstGeom>
        </p:spPr>
      </p:pic>
      <p:sp>
        <p:nvSpPr>
          <p:cNvPr id="32" name="Text 13">
            <a:extLst>
              <a:ext uri="{FF2B5EF4-FFF2-40B4-BE49-F238E27FC236}">
                <a16:creationId xmlns:a16="http://schemas.microsoft.com/office/drawing/2014/main" id="{AAC0673E-767A-BF79-A96F-ED1006AB6287}"/>
              </a:ext>
            </a:extLst>
          </p:cNvPr>
          <p:cNvSpPr/>
          <p:nvPr/>
        </p:nvSpPr>
        <p:spPr>
          <a:xfrm>
            <a:off x="6339840" y="2804160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Pipeline</a:t>
            </a:r>
            <a:endParaRPr lang="en-US" sz="21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04FB15A7-7340-3C4B-44AB-1EF8C6E4C09B}"/>
              </a:ext>
            </a:extLst>
          </p:cNvPr>
          <p:cNvSpPr/>
          <p:nvPr/>
        </p:nvSpPr>
        <p:spPr>
          <a:xfrm>
            <a:off x="6522720" y="3535680"/>
            <a:ext cx="21945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compared with 5-fold CV. Modular Python package, logging, type hints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48FF5F3D-1E8D-19A3-67ED-8D32C3D2DBF6}"/>
              </a:ext>
            </a:extLst>
          </p:cNvPr>
          <p:cNvSpPr/>
          <p:nvPr/>
        </p:nvSpPr>
        <p:spPr>
          <a:xfrm>
            <a:off x="9204960" y="1341120"/>
            <a:ext cx="2560320" cy="4145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542E91BE-4FDF-B85F-CDB9-0EBD7F544AF9}"/>
              </a:ext>
            </a:extLst>
          </p:cNvPr>
          <p:cNvSpPr/>
          <p:nvPr/>
        </p:nvSpPr>
        <p:spPr>
          <a:xfrm>
            <a:off x="9302496" y="146304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pic>
        <p:nvPicPr>
          <p:cNvPr id="36" name="Image 3" descr="preencoded.png">
            <a:extLst>
              <a:ext uri="{FF2B5EF4-FFF2-40B4-BE49-F238E27FC236}">
                <a16:creationId xmlns:a16="http://schemas.microsoft.com/office/drawing/2014/main" id="{40399FE5-FB5F-1999-8B68-10CF28A9C7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9360" y="1767840"/>
            <a:ext cx="731520" cy="731520"/>
          </a:xfrm>
          <a:prstGeom prst="rect">
            <a:avLst/>
          </a:prstGeom>
        </p:spPr>
      </p:pic>
      <p:sp>
        <p:nvSpPr>
          <p:cNvPr id="37" name="Text 17">
            <a:extLst>
              <a:ext uri="{FF2B5EF4-FFF2-40B4-BE49-F238E27FC236}">
                <a16:creationId xmlns:a16="http://schemas.microsoft.com/office/drawing/2014/main" id="{9A3B1CA8-74E3-4DC1-F1E2-D8705371E0FF}"/>
              </a:ext>
            </a:extLst>
          </p:cNvPr>
          <p:cNvSpPr/>
          <p:nvPr/>
        </p:nvSpPr>
        <p:spPr>
          <a:xfrm>
            <a:off x="9204960" y="2804160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21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E613B4E1-A2AB-88C9-E8F7-B818A2100022}"/>
              </a:ext>
            </a:extLst>
          </p:cNvPr>
          <p:cNvSpPr/>
          <p:nvPr/>
        </p:nvSpPr>
        <p:spPr>
          <a:xfrm>
            <a:off x="9387840" y="3535680"/>
            <a:ext cx="21945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endpoint returning ETA + 80% confidence interval from trained model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BB4F6E87-04F3-986D-3A41-F422226B1EC7}"/>
              </a:ext>
            </a:extLst>
          </p:cNvPr>
          <p:cNvSpPr/>
          <p:nvPr/>
        </p:nvSpPr>
        <p:spPr>
          <a:xfrm>
            <a:off x="2255520" y="365760"/>
            <a:ext cx="731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Built</a:t>
            </a:r>
            <a:endParaRPr lang="en-US" sz="3733" dirty="0">
              <a:solidFill>
                <a:prstClr val="black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10619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4DA1C-0F91-606F-0F5E-ADAC92C80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54EE125-AB8F-B0E4-ADEF-D3CF3699D4A3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120C25C-B95A-D073-366A-F8B1213D4887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F4AA528-A445-AD07-24E1-FC26D37C062C}"/>
              </a:ext>
            </a:extLst>
          </p:cNvPr>
          <p:cNvSpPr/>
          <p:nvPr/>
        </p:nvSpPr>
        <p:spPr>
          <a:xfrm>
            <a:off x="2133600" y="36576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patterns from 1,000 deliveries</a:t>
            </a:r>
            <a:endParaRPr lang="en-US" sz="37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7A4EC5BE-80EA-672F-CB6E-693288963602}"/>
              </a:ext>
            </a:extLst>
          </p:cNvPr>
          <p:cNvGraphicFramePr/>
          <p:nvPr/>
        </p:nvGraphicFramePr>
        <p:xfrm>
          <a:off x="365760" y="1219200"/>
          <a:ext cx="60960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3">
            <a:extLst>
              <a:ext uri="{FF2B5EF4-FFF2-40B4-BE49-F238E27FC236}">
                <a16:creationId xmlns:a16="http://schemas.microsoft.com/office/drawing/2014/main" id="{879899FA-2E9E-FA0F-CEF2-5E03EB3262A4}"/>
              </a:ext>
            </a:extLst>
          </p:cNvPr>
          <p:cNvSpPr/>
          <p:nvPr/>
        </p:nvSpPr>
        <p:spPr>
          <a:xfrm>
            <a:off x="6705600" y="1219200"/>
            <a:ext cx="5120640" cy="9509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036B1D1-9710-B397-DB3F-52931A05867A}"/>
              </a:ext>
            </a:extLst>
          </p:cNvPr>
          <p:cNvSpPr/>
          <p:nvPr/>
        </p:nvSpPr>
        <p:spPr>
          <a:xfrm>
            <a:off x="6949440" y="1341120"/>
            <a:ext cx="1767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0.78</a:t>
            </a:r>
            <a:endParaRPr lang="en-US" sz="22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0BFE1EF-2015-560F-023F-573B57789533}"/>
              </a:ext>
            </a:extLst>
          </p:cNvPr>
          <p:cNvSpPr/>
          <p:nvPr/>
        </p:nvSpPr>
        <p:spPr>
          <a:xfrm>
            <a:off x="8717280" y="1341120"/>
            <a:ext cx="286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the strongest single predictor of delivery time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D0DF6A4-4AE5-01EF-9007-863351416ACA}"/>
              </a:ext>
            </a:extLst>
          </p:cNvPr>
          <p:cNvSpPr/>
          <p:nvPr/>
        </p:nvSpPr>
        <p:spPr>
          <a:xfrm>
            <a:off x="6705600" y="2389632"/>
            <a:ext cx="5120640" cy="9509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B3AA3F7-1E1F-A54B-070B-0C21325CF616}"/>
              </a:ext>
            </a:extLst>
          </p:cNvPr>
          <p:cNvSpPr/>
          <p:nvPr/>
        </p:nvSpPr>
        <p:spPr>
          <a:xfrm>
            <a:off x="6949440" y="2511552"/>
            <a:ext cx="1767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+11.9 min</a:t>
            </a:r>
            <a:endParaRPr lang="en-US" sz="22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8F30BC5-203F-137E-A0D3-277FF1377228}"/>
              </a:ext>
            </a:extLst>
          </p:cNvPr>
          <p:cNvSpPr/>
          <p:nvPr/>
        </p:nvSpPr>
        <p:spPr>
          <a:xfrm>
            <a:off x="8717280" y="2511552"/>
            <a:ext cx="286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traffic vs Low traffic average delivery time difference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F13DD837-C78B-8923-88DF-D24E5D1280B3}"/>
              </a:ext>
            </a:extLst>
          </p:cNvPr>
          <p:cNvSpPr/>
          <p:nvPr/>
        </p:nvSpPr>
        <p:spPr>
          <a:xfrm>
            <a:off x="6705600" y="3560064"/>
            <a:ext cx="5120640" cy="9509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A85EA01-67B3-685F-760A-7B3BE6D5F0E4}"/>
              </a:ext>
            </a:extLst>
          </p:cNvPr>
          <p:cNvSpPr/>
          <p:nvPr/>
        </p:nvSpPr>
        <p:spPr>
          <a:xfrm>
            <a:off x="6949440" y="3681984"/>
            <a:ext cx="1767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+6.6 min</a:t>
            </a:r>
            <a:endParaRPr lang="en-US" sz="22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EEAE45DF-407C-97A8-7EDB-5DB099C9294A}"/>
              </a:ext>
            </a:extLst>
          </p:cNvPr>
          <p:cNvSpPr/>
          <p:nvPr/>
        </p:nvSpPr>
        <p:spPr>
          <a:xfrm>
            <a:off x="8717280" y="3681984"/>
            <a:ext cx="286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weather (Foggy + Rainy) vs Clear conditions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9DA47B84-05A3-E462-7A20-FAE7AAC3DBA7}"/>
              </a:ext>
            </a:extLst>
          </p:cNvPr>
          <p:cNvSpPr/>
          <p:nvPr/>
        </p:nvSpPr>
        <p:spPr>
          <a:xfrm>
            <a:off x="6705600" y="4730496"/>
            <a:ext cx="5120640" cy="9509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95B3031-C25E-52F2-5626-209A25DCA727}"/>
              </a:ext>
            </a:extLst>
          </p:cNvPr>
          <p:cNvSpPr/>
          <p:nvPr/>
        </p:nvSpPr>
        <p:spPr>
          <a:xfrm>
            <a:off x="6949440" y="4852416"/>
            <a:ext cx="1767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-0.63 min/yr</a:t>
            </a:r>
            <a:endParaRPr lang="en-US" sz="22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76D80DAD-9533-8519-3516-492BB2AF81E4}"/>
              </a:ext>
            </a:extLst>
          </p:cNvPr>
          <p:cNvSpPr/>
          <p:nvPr/>
        </p:nvSpPr>
        <p:spPr>
          <a:xfrm>
            <a:off x="8717280" y="4852416"/>
            <a:ext cx="286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 of courier experience shaves time off deliveries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57007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3A727-D0CA-88A0-404C-9EF60441B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44B454-F463-E960-9BDF-85BB870C7E96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9E1C06-F2BF-A80B-1891-BFC0A925BBEC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72444266-F505-39FB-25FE-A3CAF3F52779}"/>
              </a:ext>
            </a:extLst>
          </p:cNvPr>
          <p:cNvSpPr/>
          <p:nvPr/>
        </p:nvSpPr>
        <p:spPr>
          <a:xfrm>
            <a:off x="2133600" y="36576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&amp; segment analysis</a:t>
            </a:r>
            <a:endParaRPr lang="en-US" sz="37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graphicFrame>
        <p:nvGraphicFramePr>
          <p:cNvPr id="20" name="Chart 0">
            <a:extLst>
              <a:ext uri="{FF2B5EF4-FFF2-40B4-BE49-F238E27FC236}">
                <a16:creationId xmlns:a16="http://schemas.microsoft.com/office/drawing/2014/main" id="{0F5F8115-400E-54FF-6CEA-26954C6DD8CF}"/>
              </a:ext>
            </a:extLst>
          </p:cNvPr>
          <p:cNvGraphicFramePr/>
          <p:nvPr/>
        </p:nvGraphicFramePr>
        <p:xfrm>
          <a:off x="365760" y="1219200"/>
          <a:ext cx="5730240" cy="463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 1">
            <a:extLst>
              <a:ext uri="{FF2B5EF4-FFF2-40B4-BE49-F238E27FC236}">
                <a16:creationId xmlns:a16="http://schemas.microsoft.com/office/drawing/2014/main" id="{574093A6-1981-0465-871D-010FEDAB798E}"/>
              </a:ext>
            </a:extLst>
          </p:cNvPr>
          <p:cNvGraphicFramePr/>
          <p:nvPr/>
        </p:nvGraphicFramePr>
        <p:xfrm>
          <a:off x="6339840" y="1219200"/>
          <a:ext cx="5486400" cy="2072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Chart 2">
            <a:extLst>
              <a:ext uri="{FF2B5EF4-FFF2-40B4-BE49-F238E27FC236}">
                <a16:creationId xmlns:a16="http://schemas.microsoft.com/office/drawing/2014/main" id="{CD7E8C65-589D-21C5-447E-7C98B7E17CD5}"/>
              </a:ext>
            </a:extLst>
          </p:cNvPr>
          <p:cNvGraphicFramePr/>
          <p:nvPr/>
        </p:nvGraphicFramePr>
        <p:xfrm>
          <a:off x="6339840" y="3657600"/>
          <a:ext cx="54864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39019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94DE-7BE3-30A2-04E9-20C82F95A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5DB30EB-CB42-1757-1802-A386F6AA7FA6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6D8D275-F9DC-2484-5F00-66A0882CD09C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DD9F56A-DDBD-DD63-3A89-833F5B168266}"/>
              </a:ext>
            </a:extLst>
          </p:cNvPr>
          <p:cNvSpPr/>
          <p:nvPr/>
        </p:nvSpPr>
        <p:spPr>
          <a:xfrm>
            <a:off x="2133600" y="36576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comparison (5-fold CV, n=800)</a:t>
            </a:r>
            <a:endParaRPr lang="en-US" sz="37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417ED8F6-82B8-F486-98EC-14DF773A7CA4}"/>
              </a:ext>
            </a:extLst>
          </p:cNvPr>
          <p:cNvGraphicFramePr/>
          <p:nvPr/>
        </p:nvGraphicFramePr>
        <p:xfrm>
          <a:off x="365760" y="1219200"/>
          <a:ext cx="7071360" cy="463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3">
            <a:extLst>
              <a:ext uri="{FF2B5EF4-FFF2-40B4-BE49-F238E27FC236}">
                <a16:creationId xmlns:a16="http://schemas.microsoft.com/office/drawing/2014/main" id="{7DC50B9C-8C81-116C-0BDC-86408594F231}"/>
              </a:ext>
            </a:extLst>
          </p:cNvPr>
          <p:cNvSpPr/>
          <p:nvPr/>
        </p:nvSpPr>
        <p:spPr>
          <a:xfrm>
            <a:off x="7802880" y="1219200"/>
            <a:ext cx="4023360" cy="463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33F2C12-51DD-A1F4-E133-C8DD27BC5E1E}"/>
              </a:ext>
            </a:extLst>
          </p:cNvPr>
          <p:cNvSpPr/>
          <p:nvPr/>
        </p:nvSpPr>
        <p:spPr>
          <a:xfrm>
            <a:off x="7802880" y="140208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7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E89CB32-B82E-5B44-9F94-020AC1ECDF0C}"/>
              </a:ext>
            </a:extLst>
          </p:cNvPr>
          <p:cNvSpPr/>
          <p:nvPr/>
        </p:nvSpPr>
        <p:spPr>
          <a:xfrm>
            <a:off x="7802880" y="1828800"/>
            <a:ext cx="40233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</a:t>
            </a:r>
            <a:endParaRPr lang="en-US" sz="2933" dirty="0">
              <a:solidFill>
                <a:prstClr val="black"/>
              </a:solidFill>
              <a:latin typeface="Trebuchet MS" panose="020B0603020202020204"/>
            </a:endParaRPr>
          </a:p>
          <a:p>
            <a:pPr algn="ctr" defTabSz="1219170"/>
            <a:r>
              <a:rPr lang="en-US" sz="2933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29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EC40423-F704-3A2C-224E-CFD2E6D4D076}"/>
              </a:ext>
            </a:extLst>
          </p:cNvPr>
          <p:cNvSpPr/>
          <p:nvPr/>
        </p:nvSpPr>
        <p:spPr>
          <a:xfrm>
            <a:off x="8168640" y="3108960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MAE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CC1B3C0-DFD5-BC56-61B2-999D417297E8}"/>
              </a:ext>
            </a:extLst>
          </p:cNvPr>
          <p:cNvSpPr/>
          <p:nvPr/>
        </p:nvSpPr>
        <p:spPr>
          <a:xfrm>
            <a:off x="9997440" y="3108960"/>
            <a:ext cx="1584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6.84 ± 0.45 min</a:t>
            </a:r>
            <a:endParaRPr lang="en-US" sz="160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22130AEF-CCE1-CCE5-39C6-978F5CF35198}"/>
              </a:ext>
            </a:extLst>
          </p:cNvPr>
          <p:cNvSpPr/>
          <p:nvPr/>
        </p:nvSpPr>
        <p:spPr>
          <a:xfrm>
            <a:off x="8168640" y="3621024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0680AED-10B4-F1AD-0997-2A2A296AD552}"/>
              </a:ext>
            </a:extLst>
          </p:cNvPr>
          <p:cNvSpPr/>
          <p:nvPr/>
        </p:nvSpPr>
        <p:spPr>
          <a:xfrm>
            <a:off x="9997440" y="3621024"/>
            <a:ext cx="1584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0.751</a:t>
            </a:r>
            <a:endParaRPr lang="en-US" sz="160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DF11345-E0E1-7790-F5E6-D6EE78B50C7B}"/>
              </a:ext>
            </a:extLst>
          </p:cNvPr>
          <p:cNvSpPr/>
          <p:nvPr/>
        </p:nvSpPr>
        <p:spPr>
          <a:xfrm>
            <a:off x="8168640" y="4133088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C56202F-AFDA-68DB-8EB3-B21B5DA5975C}"/>
              </a:ext>
            </a:extLst>
          </p:cNvPr>
          <p:cNvSpPr/>
          <p:nvPr/>
        </p:nvSpPr>
        <p:spPr>
          <a:xfrm>
            <a:off x="9997440" y="4133088"/>
            <a:ext cx="1584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5.90 min</a:t>
            </a:r>
            <a:endParaRPr lang="en-US" sz="160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60EF07F-E63C-AD28-143C-2B19C93F182A}"/>
              </a:ext>
            </a:extLst>
          </p:cNvPr>
          <p:cNvSpPr/>
          <p:nvPr/>
        </p:nvSpPr>
        <p:spPr>
          <a:xfrm>
            <a:off x="8168640" y="4645152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C47F47C-983A-E0CC-B9FD-8FA338C8F7CC}"/>
              </a:ext>
            </a:extLst>
          </p:cNvPr>
          <p:cNvSpPr/>
          <p:nvPr/>
        </p:nvSpPr>
        <p:spPr>
          <a:xfrm>
            <a:off x="9997440" y="4645152"/>
            <a:ext cx="1584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0.832</a:t>
            </a:r>
            <a:endParaRPr lang="en-US" sz="160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9DC3A564-E269-1875-EDC1-FE3711EDD090}"/>
              </a:ext>
            </a:extLst>
          </p:cNvPr>
          <p:cNvSpPr/>
          <p:nvPr/>
        </p:nvSpPr>
        <p:spPr>
          <a:xfrm>
            <a:off x="8168640" y="5157216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28256B05-CDF3-B290-D32F-03E1EDB3C94D}"/>
              </a:ext>
            </a:extLst>
          </p:cNvPr>
          <p:cNvSpPr/>
          <p:nvPr/>
        </p:nvSpPr>
        <p:spPr>
          <a:xfrm>
            <a:off x="9997440" y="5157216"/>
            <a:ext cx="1584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8.69 min</a:t>
            </a:r>
            <a:endParaRPr lang="en-US" sz="1600" dirty="0">
              <a:solidFill>
                <a:prstClr val="black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19526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8CA8-E10D-A477-6D5B-FEAE208F8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CB682A-42A9-63DE-BA9D-FE90E5E83C52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DC0D85-8F3F-A283-0149-D1D49E983B8F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DDC5C5E9-C6AC-2DEE-B0F0-1154150C640F}"/>
              </a:ext>
            </a:extLst>
          </p:cNvPr>
          <p:cNvSpPr/>
          <p:nvPr/>
        </p:nvSpPr>
        <p:spPr>
          <a:xfrm>
            <a:off x="2133600" y="365760"/>
            <a:ext cx="731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drives delivery time</a:t>
            </a:r>
            <a:endParaRPr lang="en-US" sz="37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graphicFrame>
        <p:nvGraphicFramePr>
          <p:cNvPr id="20" name="Chart 0">
            <a:extLst>
              <a:ext uri="{FF2B5EF4-FFF2-40B4-BE49-F238E27FC236}">
                <a16:creationId xmlns:a16="http://schemas.microsoft.com/office/drawing/2014/main" id="{A47E8EDE-B0B7-8A39-9E77-7AE0F8B6B342}"/>
              </a:ext>
            </a:extLst>
          </p:cNvPr>
          <p:cNvGraphicFramePr/>
          <p:nvPr/>
        </p:nvGraphicFramePr>
        <p:xfrm>
          <a:off x="365760" y="1219200"/>
          <a:ext cx="6461760" cy="463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3">
            <a:extLst>
              <a:ext uri="{FF2B5EF4-FFF2-40B4-BE49-F238E27FC236}">
                <a16:creationId xmlns:a16="http://schemas.microsoft.com/office/drawing/2014/main" id="{5D687B16-2A31-8F1D-69EA-B2EEBED3C480}"/>
              </a:ext>
            </a:extLst>
          </p:cNvPr>
          <p:cNvSpPr/>
          <p:nvPr/>
        </p:nvSpPr>
        <p:spPr>
          <a:xfrm>
            <a:off x="7193280" y="1219200"/>
            <a:ext cx="4632960" cy="463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A5E06AFB-B6F1-E72D-B5C4-511A89EC7698}"/>
              </a:ext>
            </a:extLst>
          </p:cNvPr>
          <p:cNvSpPr/>
          <p:nvPr/>
        </p:nvSpPr>
        <p:spPr>
          <a:xfrm>
            <a:off x="7437120" y="1402080"/>
            <a:ext cx="4145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means for Ops</a:t>
            </a:r>
            <a:endParaRPr lang="en-US" sz="200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3D0C83EA-79AD-7BB1-4E3A-9753B6F2435A}"/>
              </a:ext>
            </a:extLst>
          </p:cNvPr>
          <p:cNvSpPr/>
          <p:nvPr/>
        </p:nvSpPr>
        <p:spPr>
          <a:xfrm>
            <a:off x="7437120" y="2011680"/>
            <a:ext cx="414528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5000"/>
              </a:lnSpc>
            </a:pPr>
            <a:r>
              <a:rPr lang="en-US" sz="1333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dominates (+17 min/SD).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is the single biggest lever to cut delivery time.</a:t>
            </a:r>
            <a:endParaRPr lang="en-US" sz="1333" dirty="0">
              <a:solidFill>
                <a:prstClr val="black"/>
              </a:solidFill>
              <a:latin typeface="Trebuchet MS" panose="020B0603020202020204"/>
            </a:endParaRPr>
          </a:p>
          <a:p>
            <a:pPr defTabSz="1219170">
              <a:lnSpc>
                <a:spcPct val="115000"/>
              </a:lnSpc>
            </a:pPr>
            <a:endParaRPr lang="en-US" sz="1333" dirty="0">
              <a:solidFill>
                <a:prstClr val="black"/>
              </a:solidFill>
              <a:latin typeface="Trebuchet MS" panose="020B0603020202020204"/>
            </a:endParaRPr>
          </a:p>
          <a:p>
            <a:pPr defTabSz="1219170">
              <a:lnSpc>
                <a:spcPct val="115000"/>
              </a:lnSpc>
            </a:pPr>
            <a:r>
              <a:rPr lang="en-US" sz="1333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prep is #2 (+7 min/SD).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restaurants cascade into late deliveries. Partner SLAs matter.</a:t>
            </a:r>
            <a:endParaRPr lang="en-US" sz="1333" dirty="0">
              <a:solidFill>
                <a:prstClr val="black"/>
              </a:solidFill>
              <a:latin typeface="Trebuchet MS" panose="020B0603020202020204"/>
            </a:endParaRPr>
          </a:p>
          <a:p>
            <a:pPr defTabSz="1219170">
              <a:lnSpc>
                <a:spcPct val="115000"/>
              </a:lnSpc>
            </a:pPr>
            <a:endParaRPr lang="en-US" sz="1333" dirty="0">
              <a:solidFill>
                <a:prstClr val="black"/>
              </a:solidFill>
              <a:latin typeface="Trebuchet MS" panose="020B0603020202020204"/>
            </a:endParaRPr>
          </a:p>
          <a:p>
            <a:pPr defTabSz="1219170">
              <a:lnSpc>
                <a:spcPct val="115000"/>
              </a:lnSpc>
            </a:pPr>
            <a:r>
              <a:rPr lang="en-US" sz="1333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adds +4.2 min per level.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data lets Ops pad ETAs dynamically.</a:t>
            </a:r>
            <a:endParaRPr lang="en-US" sz="1333" dirty="0">
              <a:solidFill>
                <a:prstClr val="black"/>
              </a:solidFill>
              <a:latin typeface="Trebuchet MS" panose="020B0603020202020204"/>
            </a:endParaRPr>
          </a:p>
          <a:p>
            <a:pPr defTabSz="1219170">
              <a:lnSpc>
                <a:spcPct val="115000"/>
              </a:lnSpc>
            </a:pPr>
            <a:endParaRPr lang="en-US" sz="1333" dirty="0">
              <a:solidFill>
                <a:prstClr val="black"/>
              </a:solidFill>
              <a:latin typeface="Trebuchet MS" panose="020B0603020202020204"/>
            </a:endParaRPr>
          </a:p>
          <a:p>
            <a:pPr defTabSz="1219170">
              <a:lnSpc>
                <a:spcPct val="115000"/>
              </a:lnSpc>
            </a:pPr>
            <a:r>
              <a:rPr lang="en-US" sz="1333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saves -0.63 min/yr.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but consistent. Senior couriers are measurably faster.</a:t>
            </a:r>
            <a:endParaRPr lang="en-US" sz="1333" dirty="0">
              <a:solidFill>
                <a:prstClr val="black"/>
              </a:solidFill>
              <a:latin typeface="Trebuchet MS" panose="020B0603020202020204"/>
            </a:endParaRPr>
          </a:p>
          <a:p>
            <a:pPr defTabSz="1219170">
              <a:lnSpc>
                <a:spcPct val="115000"/>
              </a:lnSpc>
            </a:pPr>
            <a:endParaRPr lang="en-US" sz="1333" dirty="0">
              <a:solidFill>
                <a:prstClr val="black"/>
              </a:solidFill>
              <a:latin typeface="Trebuchet MS" panose="020B0603020202020204"/>
            </a:endParaRPr>
          </a:p>
          <a:p>
            <a:pPr defTabSz="1219170">
              <a:lnSpc>
                <a:spcPct val="115000"/>
              </a:lnSpc>
            </a:pPr>
            <a:r>
              <a:rPr lang="en-US" sz="1333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&amp; time of day don't matter </a:t>
            </a:r>
            <a:r>
              <a:rPr lang="en-US" sz="13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(&lt;2 min spread). Not worth optimizing for.</a:t>
            </a:r>
            <a:endParaRPr lang="en-US" sz="1333" dirty="0">
              <a:solidFill>
                <a:prstClr val="black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1862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7BC68-6A0A-7A7E-D37D-0F6EA354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F4BAEFA7-4DFA-9083-CEFF-9D68D67AE5A0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28F250E-BD5D-2691-B8B0-F37AA1C75322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4DD5878-D0FD-707B-9994-BFA68EF4E4C6}"/>
              </a:ext>
            </a:extLst>
          </p:cNvPr>
          <p:cNvSpPr/>
          <p:nvPr/>
        </p:nvSpPr>
        <p:spPr>
          <a:xfrm>
            <a:off x="2133600" y="36576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model struggles (and fixes)</a:t>
            </a:r>
            <a:endParaRPr lang="en-US" sz="37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98760859-0E19-3216-96C5-B4A9870F1BA6}"/>
              </a:ext>
            </a:extLst>
          </p:cNvPr>
          <p:cNvGraphicFramePr/>
          <p:nvPr/>
        </p:nvGraphicFramePr>
        <p:xfrm>
          <a:off x="365760" y="1219200"/>
          <a:ext cx="6705600" cy="4511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3">
            <a:extLst>
              <a:ext uri="{FF2B5EF4-FFF2-40B4-BE49-F238E27FC236}">
                <a16:creationId xmlns:a16="http://schemas.microsoft.com/office/drawing/2014/main" id="{E556FD6B-BE2B-8566-FAB5-2690AF2C7A09}"/>
              </a:ext>
            </a:extLst>
          </p:cNvPr>
          <p:cNvSpPr/>
          <p:nvPr/>
        </p:nvSpPr>
        <p:spPr>
          <a:xfrm>
            <a:off x="7437120" y="1219200"/>
            <a:ext cx="4389120" cy="4511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DE27513E-D330-4B70-F5A1-1E2C74D69B93}"/>
              </a:ext>
            </a:extLst>
          </p:cNvPr>
          <p:cNvSpPr/>
          <p:nvPr/>
        </p:nvSpPr>
        <p:spPr>
          <a:xfrm>
            <a:off x="7680960" y="1365504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fixes</a:t>
            </a:r>
            <a:endParaRPr lang="en-US" sz="200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63D731F2-087D-22E8-7921-06433F77C5A4}"/>
              </a:ext>
            </a:extLst>
          </p:cNvPr>
          <p:cNvSpPr/>
          <p:nvPr/>
        </p:nvSpPr>
        <p:spPr>
          <a:xfrm>
            <a:off x="7680960" y="1889760"/>
            <a:ext cx="39014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Foggy (n=21)</a:t>
            </a:r>
            <a:endParaRPr lang="en-US" sz="13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493BDFB-5F88-38B9-E0E8-19A02E7BDF51}"/>
              </a:ext>
            </a:extLst>
          </p:cNvPr>
          <p:cNvSpPr/>
          <p:nvPr/>
        </p:nvSpPr>
        <p:spPr>
          <a:xfrm>
            <a:off x="7680960" y="2157984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fog severity feature + buffer +6 min to ETA</a:t>
            </a:r>
            <a:endParaRPr lang="en-US" sz="12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6771868-1898-474B-1B82-B77FE8FDB77F}"/>
              </a:ext>
            </a:extLst>
          </p:cNvPr>
          <p:cNvSpPr/>
          <p:nvPr/>
        </p:nvSpPr>
        <p:spPr>
          <a:xfrm>
            <a:off x="7680960" y="2621280"/>
            <a:ext cx="39014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traffic (n=38)</a:t>
            </a:r>
            <a:endParaRPr lang="en-US" sz="13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57D3E26-2EC3-6F3D-8863-88CCB594D6D7}"/>
              </a:ext>
            </a:extLst>
          </p:cNvPr>
          <p:cNvSpPr/>
          <p:nvPr/>
        </p:nvSpPr>
        <p:spPr>
          <a:xfrm>
            <a:off x="7680960" y="2889504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API + buffer +3 min</a:t>
            </a:r>
            <a:endParaRPr lang="en-US" sz="12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72B8537-21C1-9FD7-8754-EEFD0080F117}"/>
              </a:ext>
            </a:extLst>
          </p:cNvPr>
          <p:cNvSpPr/>
          <p:nvPr/>
        </p:nvSpPr>
        <p:spPr>
          <a:xfrm>
            <a:off x="7680960" y="3352800"/>
            <a:ext cx="39014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 12+km (n=77)</a:t>
            </a:r>
            <a:endParaRPr lang="en-US" sz="13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472C1AD-3189-700A-30C8-C6C346C843CC}"/>
              </a:ext>
            </a:extLst>
          </p:cNvPr>
          <p:cNvSpPr/>
          <p:nvPr/>
        </p:nvSpPr>
        <p:spPr>
          <a:xfrm>
            <a:off x="7680960" y="3621024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model or distance-binned intercepts</a:t>
            </a:r>
            <a:endParaRPr lang="en-US" sz="12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4A9EC377-94EA-91A3-1F02-D82773E71432}"/>
              </a:ext>
            </a:extLst>
          </p:cNvPr>
          <p:cNvSpPr/>
          <p:nvPr/>
        </p:nvSpPr>
        <p:spPr>
          <a:xfrm>
            <a:off x="7680960" y="4084320"/>
            <a:ext cx="39014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(n=9)</a:t>
            </a:r>
            <a:endParaRPr lang="en-US" sz="13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51E24ADB-EEBC-CF5E-B53C-43E44E2B89B6}"/>
              </a:ext>
            </a:extLst>
          </p:cNvPr>
          <p:cNvSpPr/>
          <p:nvPr/>
        </p:nvSpPr>
        <p:spPr>
          <a:xfrm>
            <a:off x="7680960" y="4352544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close-time feature (small n - monitor)</a:t>
            </a:r>
            <a:endParaRPr lang="en-US" sz="12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50A6A6A6-4985-8A9C-E427-F0D9A992CFD1}"/>
              </a:ext>
            </a:extLst>
          </p:cNvPr>
          <p:cNvSpPr/>
          <p:nvPr/>
        </p:nvSpPr>
        <p:spPr>
          <a:xfrm>
            <a:off x="7680960" y="4815840"/>
            <a:ext cx="39014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(n=95)</a:t>
            </a:r>
            <a:endParaRPr lang="en-US" sz="13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C3136F11-0B29-D3C2-82EB-34656AEE716D}"/>
              </a:ext>
            </a:extLst>
          </p:cNvPr>
          <p:cNvSpPr/>
          <p:nvPr/>
        </p:nvSpPr>
        <p:spPr>
          <a:xfrm>
            <a:off x="7680960" y="5084064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overdelivers here - acceptable, no fix needed</a:t>
            </a:r>
            <a:endParaRPr lang="en-US" sz="12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1A8696AA-AA51-22B7-03CB-4C6E1D772D1A}"/>
              </a:ext>
            </a:extLst>
          </p:cNvPr>
          <p:cNvSpPr/>
          <p:nvPr/>
        </p:nvSpPr>
        <p:spPr>
          <a:xfrm>
            <a:off x="609600" y="58521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i="1" dirty="0">
                <a:solidFill>
                  <a:prstClr val="whit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underestimates in adverse conditions. Short-term: buffer padding. Long-term: richer features.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23490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E50F1-7E07-A0FE-DA21-20B97309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4C445C-049A-7EE9-24B0-DFFD87CDAA00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B58863-C941-9F7E-F3BE-927D2DC8C6B4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116964CA-A23B-B6DF-486F-F44C947E6B9E}"/>
              </a:ext>
            </a:extLst>
          </p:cNvPr>
          <p:cNvSpPr/>
          <p:nvPr/>
        </p:nvSpPr>
        <p:spPr>
          <a:xfrm>
            <a:off x="2133600" y="36576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means for the business</a:t>
            </a:r>
            <a:endParaRPr lang="en-US" sz="37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DBAECB79-7489-54DB-E92A-B42A79631851}"/>
              </a:ext>
            </a:extLst>
          </p:cNvPr>
          <p:cNvSpPr/>
          <p:nvPr/>
        </p:nvSpPr>
        <p:spPr>
          <a:xfrm>
            <a:off x="609600" y="1280160"/>
            <a:ext cx="5364480" cy="2133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FFB1A8C4-48E3-2FA4-9966-74291F94CD8C}"/>
              </a:ext>
            </a:extLst>
          </p:cNvPr>
          <p:cNvSpPr/>
          <p:nvPr/>
        </p:nvSpPr>
        <p:spPr>
          <a:xfrm>
            <a:off x="609600" y="1280160"/>
            <a:ext cx="85344" cy="2133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038386C9-2B94-F659-05AA-E393180D30C8}"/>
              </a:ext>
            </a:extLst>
          </p:cNvPr>
          <p:cNvSpPr/>
          <p:nvPr/>
        </p:nvSpPr>
        <p:spPr>
          <a:xfrm>
            <a:off x="975360" y="1463040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5.9 min</a:t>
            </a:r>
            <a:endParaRPr lang="en-US" sz="320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21B9492B-9249-849A-EF82-9422B8CDF5EA}"/>
              </a:ext>
            </a:extLst>
          </p:cNvPr>
          <p:cNvSpPr/>
          <p:nvPr/>
        </p:nvSpPr>
        <p:spPr>
          <a:xfrm>
            <a:off x="2987040" y="1463040"/>
            <a:ext cx="2621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prediction error</a:t>
            </a:r>
            <a:endParaRPr lang="en-US" sz="17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F7896B95-3E55-1A92-1118-3FD794172762}"/>
              </a:ext>
            </a:extLst>
          </p:cNvPr>
          <p:cNvSpPr/>
          <p:nvPr/>
        </p:nvSpPr>
        <p:spPr>
          <a:xfrm>
            <a:off x="975360" y="2194560"/>
            <a:ext cx="46329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misses by less than 6 min on average - accurate enough for realistic customer ETAs.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AA24F84C-EFD3-EA71-0F79-FCA2431E5D12}"/>
              </a:ext>
            </a:extLst>
          </p:cNvPr>
          <p:cNvSpPr/>
          <p:nvPr/>
        </p:nvSpPr>
        <p:spPr>
          <a:xfrm>
            <a:off x="6339840" y="1280160"/>
            <a:ext cx="5364480" cy="2133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D7CFCAFB-626A-5673-9AA2-EACE32B1095C}"/>
              </a:ext>
            </a:extLst>
          </p:cNvPr>
          <p:cNvSpPr/>
          <p:nvPr/>
        </p:nvSpPr>
        <p:spPr>
          <a:xfrm>
            <a:off x="6339840" y="1280160"/>
            <a:ext cx="85344" cy="2133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EEADBD0E-4C54-B819-1B1F-4242E633E0DF}"/>
              </a:ext>
            </a:extLst>
          </p:cNvPr>
          <p:cNvSpPr/>
          <p:nvPr/>
        </p:nvSpPr>
        <p:spPr>
          <a:xfrm>
            <a:off x="6705600" y="1463040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83%</a:t>
            </a:r>
            <a:endParaRPr lang="en-US" sz="320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5CCB4614-EC52-C1DB-AD76-CB55AA392D58}"/>
              </a:ext>
            </a:extLst>
          </p:cNvPr>
          <p:cNvSpPr/>
          <p:nvPr/>
        </p:nvSpPr>
        <p:spPr>
          <a:xfrm>
            <a:off x="8717280" y="1463040"/>
            <a:ext cx="2621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Variance explained</a:t>
            </a:r>
            <a:endParaRPr lang="en-US" sz="17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C2913134-367C-4044-5709-F125296CA095}"/>
              </a:ext>
            </a:extLst>
          </p:cNvPr>
          <p:cNvSpPr/>
          <p:nvPr/>
        </p:nvSpPr>
        <p:spPr>
          <a:xfrm>
            <a:off x="6705600" y="2194560"/>
            <a:ext cx="46329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physical features (distance, prep, traffic) capture most of the signal. Interpretable and auditable.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E707262F-FB0C-4A80-B5D6-636AFD28B12E}"/>
              </a:ext>
            </a:extLst>
          </p:cNvPr>
          <p:cNvSpPr/>
          <p:nvPr/>
        </p:nvSpPr>
        <p:spPr>
          <a:xfrm>
            <a:off x="609600" y="3779520"/>
            <a:ext cx="5364480" cy="2133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959578DA-9969-88AC-93B7-D7A4B36893C9}"/>
              </a:ext>
            </a:extLst>
          </p:cNvPr>
          <p:cNvSpPr/>
          <p:nvPr/>
        </p:nvSpPr>
        <p:spPr>
          <a:xfrm>
            <a:off x="609600" y="3779520"/>
            <a:ext cx="85344" cy="2133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AF9B97F2-E56B-5082-D44F-6E3EE18479FE}"/>
              </a:ext>
            </a:extLst>
          </p:cNvPr>
          <p:cNvSpPr/>
          <p:nvPr/>
        </p:nvSpPr>
        <p:spPr>
          <a:xfrm>
            <a:off x="975360" y="3962400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 min</a:t>
            </a:r>
            <a:endParaRPr lang="en-US" sz="320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8166F3FC-8F74-321E-5D78-766049532F89}"/>
              </a:ext>
            </a:extLst>
          </p:cNvPr>
          <p:cNvSpPr/>
          <p:nvPr/>
        </p:nvSpPr>
        <p:spPr>
          <a:xfrm>
            <a:off x="2987040" y="3962400"/>
            <a:ext cx="2621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buffer for adverse weather</a:t>
            </a:r>
            <a:endParaRPr lang="en-US" sz="17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066565D0-D33B-FB16-D0B9-6BB7F29DBB4E}"/>
              </a:ext>
            </a:extLst>
          </p:cNvPr>
          <p:cNvSpPr/>
          <p:nvPr/>
        </p:nvSpPr>
        <p:spPr>
          <a:xfrm>
            <a:off x="975360" y="4693920"/>
            <a:ext cx="46329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the ETA in fog/rain prevents the underestimation bias the model shows today.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1587B98F-A4B5-5FD2-7410-6A9232E13742}"/>
              </a:ext>
            </a:extLst>
          </p:cNvPr>
          <p:cNvSpPr/>
          <p:nvPr/>
        </p:nvSpPr>
        <p:spPr>
          <a:xfrm>
            <a:off x="6339840" y="3779520"/>
            <a:ext cx="5364480" cy="2133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539ECB8D-913C-B7CA-5762-B5AAF2CA50C6}"/>
              </a:ext>
            </a:extLst>
          </p:cNvPr>
          <p:cNvSpPr/>
          <p:nvPr/>
        </p:nvSpPr>
        <p:spPr>
          <a:xfrm>
            <a:off x="6339840" y="3779520"/>
            <a:ext cx="85344" cy="2133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D4A20962-D768-BD00-3F76-959558ADC44A}"/>
              </a:ext>
            </a:extLst>
          </p:cNvPr>
          <p:cNvSpPr/>
          <p:nvPr/>
        </p:nvSpPr>
        <p:spPr>
          <a:xfrm>
            <a:off x="6705600" y="3962400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</a:t>
            </a:r>
            <a:endParaRPr lang="en-US" sz="320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54ABF6DA-22DA-DAED-C62F-E3282419E389}"/>
              </a:ext>
            </a:extLst>
          </p:cNvPr>
          <p:cNvSpPr/>
          <p:nvPr/>
        </p:nvSpPr>
        <p:spPr>
          <a:xfrm>
            <a:off x="8717280" y="3962400"/>
            <a:ext cx="2621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API-ready predictions</a:t>
            </a:r>
            <a:endParaRPr lang="en-US" sz="17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71F660E3-1FA6-098E-9201-E42179216799}"/>
              </a:ext>
            </a:extLst>
          </p:cNvPr>
          <p:cNvSpPr/>
          <p:nvPr/>
        </p:nvSpPr>
        <p:spPr>
          <a:xfrm>
            <a:off x="6705600" y="4693920"/>
            <a:ext cx="46329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 serves ETA + 80% CI per delivery. Ready for dispatch integration.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92613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03C14-DDC9-CF1F-900E-5372D4FD8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8DFA82-3CC6-F8EA-0D88-3DC0E69714DE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324DC3-217E-C06E-361A-6E6563C6AEDF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658208A3-D493-AA13-B6B1-17DF0EC78DA4}"/>
              </a:ext>
            </a:extLst>
          </p:cNvPr>
          <p:cNvSpPr/>
          <p:nvPr/>
        </p:nvSpPr>
        <p:spPr>
          <a:xfrm>
            <a:off x="2133600" y="36576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7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A0708D-099B-E774-7E58-B9DC8D4EE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63" y="1872105"/>
            <a:ext cx="6388100" cy="218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96B638-5B7C-7D6E-C9A4-AEE470CF9CED}"/>
              </a:ext>
            </a:extLst>
          </p:cNvPr>
          <p:cNvSpPr txBox="1"/>
          <p:nvPr/>
        </p:nvSpPr>
        <p:spPr>
          <a:xfrm>
            <a:off x="443563" y="1281738"/>
            <a:ext cx="2584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the data needed: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EAD8A-03EE-D89F-7645-30E3CF20E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213" y="4181672"/>
            <a:ext cx="5277787" cy="238177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B982A1-5ED0-FA60-F4A5-A5B9C88B898E}"/>
              </a:ext>
            </a:extLst>
          </p:cNvPr>
          <p:cNvCxnSpPr>
            <a:cxnSpLocks/>
          </p:cNvCxnSpPr>
          <p:nvPr/>
        </p:nvCxnSpPr>
        <p:spPr>
          <a:xfrm>
            <a:off x="3637613" y="5516380"/>
            <a:ext cx="1983698" cy="0"/>
          </a:xfrm>
          <a:prstGeom prst="straightConnector1">
            <a:avLst/>
          </a:prstGeom>
          <a:ln w="920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7DBC2E-CDD8-55E3-D219-E0BE2D78B323}"/>
              </a:ext>
            </a:extLst>
          </p:cNvPr>
          <p:cNvCxnSpPr>
            <a:stCxn id="4" idx="2"/>
          </p:cNvCxnSpPr>
          <p:nvPr/>
        </p:nvCxnSpPr>
        <p:spPr>
          <a:xfrm>
            <a:off x="3637613" y="4056505"/>
            <a:ext cx="0" cy="1459875"/>
          </a:xfrm>
          <a:prstGeom prst="line">
            <a:avLst/>
          </a:prstGeom>
          <a:ln w="920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37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C0336-83F4-BB02-47D9-0C57D5699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>
            <a:extLst>
              <a:ext uri="{FF2B5EF4-FFF2-40B4-BE49-F238E27FC236}">
                <a16:creationId xmlns:a16="http://schemas.microsoft.com/office/drawing/2014/main" id="{6B6D8F95-B85F-6BAF-B5FD-ADAEE83351FF}"/>
              </a:ext>
            </a:extLst>
          </p:cNvPr>
          <p:cNvSpPr/>
          <p:nvPr/>
        </p:nvSpPr>
        <p:spPr>
          <a:xfrm>
            <a:off x="609600" y="365760"/>
            <a:ext cx="1219200" cy="426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1">
            <a:extLst>
              <a:ext uri="{FF2B5EF4-FFF2-40B4-BE49-F238E27FC236}">
                <a16:creationId xmlns:a16="http://schemas.microsoft.com/office/drawing/2014/main" id="{EC942D85-B38D-32C6-78CA-D10E2E37BF8F}"/>
              </a:ext>
            </a:extLst>
          </p:cNvPr>
          <p:cNvSpPr/>
          <p:nvPr/>
        </p:nvSpPr>
        <p:spPr>
          <a:xfrm>
            <a:off x="609600" y="365760"/>
            <a:ext cx="1219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2">
            <a:extLst>
              <a:ext uri="{FF2B5EF4-FFF2-40B4-BE49-F238E27FC236}">
                <a16:creationId xmlns:a16="http://schemas.microsoft.com/office/drawing/2014/main" id="{7FFDD073-1655-C3D6-3539-87161491186E}"/>
              </a:ext>
            </a:extLst>
          </p:cNvPr>
          <p:cNvSpPr/>
          <p:nvPr/>
        </p:nvSpPr>
        <p:spPr>
          <a:xfrm>
            <a:off x="2011680" y="304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 of not having a model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3">
            <a:extLst>
              <a:ext uri="{FF2B5EF4-FFF2-40B4-BE49-F238E27FC236}">
                <a16:creationId xmlns:a16="http://schemas.microsoft.com/office/drawing/2014/main" id="{740AEB26-E2FB-3279-DB87-2F79E10AF374}"/>
              </a:ext>
            </a:extLst>
          </p:cNvPr>
          <p:cNvSpPr/>
          <p:nvPr/>
        </p:nvSpPr>
        <p:spPr>
          <a:xfrm>
            <a:off x="487680" y="6266688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Based on 10K deliveries/month. Industry benchmarks: $2.50 avg cost per complaint, 15% complaint rate on late deliveries, $8/hr courier cost.</a:t>
            </a:r>
            <a:endParaRPr lang="en-US" sz="1067" dirty="0">
              <a:latin typeface="Calibri" panose="020F0502020204030204"/>
            </a:endParaRPr>
          </a:p>
        </p:txBody>
      </p:sp>
      <p:sp>
        <p:nvSpPr>
          <p:cNvPr id="79" name="Shape 4">
            <a:extLst>
              <a:ext uri="{FF2B5EF4-FFF2-40B4-BE49-F238E27FC236}">
                <a16:creationId xmlns:a16="http://schemas.microsoft.com/office/drawing/2014/main" id="{6AF0C317-0546-94DB-7930-D372522B1850}"/>
              </a:ext>
            </a:extLst>
          </p:cNvPr>
          <p:cNvSpPr/>
          <p:nvPr/>
        </p:nvSpPr>
        <p:spPr>
          <a:xfrm>
            <a:off x="487680" y="1158240"/>
            <a:ext cx="5242560" cy="5486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63F91B2D-DBDB-7E7A-E158-FE49C126FC3B}"/>
              </a:ext>
            </a:extLst>
          </p:cNvPr>
          <p:cNvSpPr/>
          <p:nvPr/>
        </p:nvSpPr>
        <p:spPr>
          <a:xfrm>
            <a:off x="487680" y="1158240"/>
            <a:ext cx="524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(no model)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Shape 6">
            <a:extLst>
              <a:ext uri="{FF2B5EF4-FFF2-40B4-BE49-F238E27FC236}">
                <a16:creationId xmlns:a16="http://schemas.microsoft.com/office/drawing/2014/main" id="{143992D8-E8EF-6F8A-CEA6-3257A52B4F16}"/>
              </a:ext>
            </a:extLst>
          </p:cNvPr>
          <p:cNvSpPr/>
          <p:nvPr/>
        </p:nvSpPr>
        <p:spPr>
          <a:xfrm>
            <a:off x="6705600" y="1158240"/>
            <a:ext cx="5242560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2B25406E-58BE-3CC4-5AF6-F6EB84AD2F15}"/>
              </a:ext>
            </a:extLst>
          </p:cNvPr>
          <p:cNvSpPr/>
          <p:nvPr/>
        </p:nvSpPr>
        <p:spPr>
          <a:xfrm>
            <a:off x="6705600" y="1158240"/>
            <a:ext cx="524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the model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Shape 8">
            <a:extLst>
              <a:ext uri="{FF2B5EF4-FFF2-40B4-BE49-F238E27FC236}">
                <a16:creationId xmlns:a16="http://schemas.microsoft.com/office/drawing/2014/main" id="{3A387709-9E70-BD0C-2E44-F36FB51D4793}"/>
              </a:ext>
            </a:extLst>
          </p:cNvPr>
          <p:cNvSpPr/>
          <p:nvPr/>
        </p:nvSpPr>
        <p:spPr>
          <a:xfrm>
            <a:off x="487680" y="1853184"/>
            <a:ext cx="5242560" cy="7071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4" name="Image 0" descr="preencoded.png">
            <a:extLst>
              <a:ext uri="{FF2B5EF4-FFF2-40B4-BE49-F238E27FC236}">
                <a16:creationId xmlns:a16="http://schemas.microsoft.com/office/drawing/2014/main" id="{8DB8C6EA-2B7D-5F43-42EA-3A2EDA389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975104"/>
            <a:ext cx="426720" cy="426720"/>
          </a:xfrm>
          <a:prstGeom prst="rect">
            <a:avLst/>
          </a:prstGeom>
        </p:spPr>
      </p:pic>
      <p:sp>
        <p:nvSpPr>
          <p:cNvPr id="85" name="Text 9">
            <a:extLst>
              <a:ext uri="{FF2B5EF4-FFF2-40B4-BE49-F238E27FC236}">
                <a16:creationId xmlns:a16="http://schemas.microsoft.com/office/drawing/2014/main" id="{B13E084C-29E8-A070-802A-15D1878BD125}"/>
              </a:ext>
            </a:extLst>
          </p:cNvPr>
          <p:cNvSpPr/>
          <p:nvPr/>
        </p:nvSpPr>
        <p:spPr>
          <a:xfrm>
            <a:off x="1219200" y="1877568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~15-20 min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Text 10">
            <a:extLst>
              <a:ext uri="{FF2B5EF4-FFF2-40B4-BE49-F238E27FC236}">
                <a16:creationId xmlns:a16="http://schemas.microsoft.com/office/drawing/2014/main" id="{9569E64E-663D-14F0-672F-9E3A0A9AD433}"/>
              </a:ext>
            </a:extLst>
          </p:cNvPr>
          <p:cNvSpPr/>
          <p:nvPr/>
        </p:nvSpPr>
        <p:spPr>
          <a:xfrm>
            <a:off x="1219200" y="2218944"/>
            <a:ext cx="426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miss weather, traffic, distance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8" name="Shape 12">
            <a:extLst>
              <a:ext uri="{FF2B5EF4-FFF2-40B4-BE49-F238E27FC236}">
                <a16:creationId xmlns:a16="http://schemas.microsoft.com/office/drawing/2014/main" id="{DC9C5908-5111-F65E-DAC9-3DB7C90D26A1}"/>
              </a:ext>
            </a:extLst>
          </p:cNvPr>
          <p:cNvSpPr/>
          <p:nvPr/>
        </p:nvSpPr>
        <p:spPr>
          <a:xfrm>
            <a:off x="6705600" y="1853184"/>
            <a:ext cx="5242560" cy="7071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Text 13">
            <a:extLst>
              <a:ext uri="{FF2B5EF4-FFF2-40B4-BE49-F238E27FC236}">
                <a16:creationId xmlns:a16="http://schemas.microsoft.com/office/drawing/2014/main" id="{67E58124-91C7-4CBE-F853-A761F1158A42}"/>
              </a:ext>
            </a:extLst>
          </p:cNvPr>
          <p:cNvSpPr/>
          <p:nvPr/>
        </p:nvSpPr>
        <p:spPr>
          <a:xfrm>
            <a:off x="6888480" y="18775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5.9 min MAE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Text 14">
            <a:extLst>
              <a:ext uri="{FF2B5EF4-FFF2-40B4-BE49-F238E27FC236}">
                <a16:creationId xmlns:a16="http://schemas.microsoft.com/office/drawing/2014/main" id="{47B7C7E6-CBCD-18D3-A421-F44ED51EA429}"/>
              </a:ext>
            </a:extLst>
          </p:cNvPr>
          <p:cNvSpPr/>
          <p:nvPr/>
        </p:nvSpPr>
        <p:spPr>
          <a:xfrm>
            <a:off x="6888480" y="2218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ETA per delivery, adapts to conditions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Shape 15">
            <a:extLst>
              <a:ext uri="{FF2B5EF4-FFF2-40B4-BE49-F238E27FC236}">
                <a16:creationId xmlns:a16="http://schemas.microsoft.com/office/drawing/2014/main" id="{C34014BB-21B5-9FEE-5A51-8CF1F2C1C5AB}"/>
              </a:ext>
            </a:extLst>
          </p:cNvPr>
          <p:cNvSpPr/>
          <p:nvPr/>
        </p:nvSpPr>
        <p:spPr>
          <a:xfrm>
            <a:off x="487680" y="2609088"/>
            <a:ext cx="5242560" cy="7071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2" name="Image 1" descr="preencoded.png">
            <a:extLst>
              <a:ext uri="{FF2B5EF4-FFF2-40B4-BE49-F238E27FC236}">
                <a16:creationId xmlns:a16="http://schemas.microsoft.com/office/drawing/2014/main" id="{E9A65DF7-CC17-BFF7-75ED-72D95B1FB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2731008"/>
            <a:ext cx="426720" cy="426720"/>
          </a:xfrm>
          <a:prstGeom prst="rect">
            <a:avLst/>
          </a:prstGeom>
        </p:spPr>
      </p:pic>
      <p:sp>
        <p:nvSpPr>
          <p:cNvPr id="93" name="Text 16">
            <a:extLst>
              <a:ext uri="{FF2B5EF4-FFF2-40B4-BE49-F238E27FC236}">
                <a16:creationId xmlns:a16="http://schemas.microsoft.com/office/drawing/2014/main" id="{851709C8-67E8-1CC9-7489-49992F616F2E}"/>
              </a:ext>
            </a:extLst>
          </p:cNvPr>
          <p:cNvSpPr/>
          <p:nvPr/>
        </p:nvSpPr>
        <p:spPr>
          <a:xfrm>
            <a:off x="1219200" y="2633472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~1,500/mo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4" name="Text 17">
            <a:extLst>
              <a:ext uri="{FF2B5EF4-FFF2-40B4-BE49-F238E27FC236}">
                <a16:creationId xmlns:a16="http://schemas.microsoft.com/office/drawing/2014/main" id="{298D63C5-0D66-C0C3-ECA3-85273021CA3E}"/>
              </a:ext>
            </a:extLst>
          </p:cNvPr>
          <p:cNvSpPr/>
          <p:nvPr/>
        </p:nvSpPr>
        <p:spPr>
          <a:xfrm>
            <a:off x="1219200" y="2974848"/>
            <a:ext cx="426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complaint rate on 10K deliveries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6" name="Shape 19">
            <a:extLst>
              <a:ext uri="{FF2B5EF4-FFF2-40B4-BE49-F238E27FC236}">
                <a16:creationId xmlns:a16="http://schemas.microsoft.com/office/drawing/2014/main" id="{818E6A97-F58F-DBBA-6784-AB8AD5B2048C}"/>
              </a:ext>
            </a:extLst>
          </p:cNvPr>
          <p:cNvSpPr/>
          <p:nvPr/>
        </p:nvSpPr>
        <p:spPr>
          <a:xfrm>
            <a:off x="6705600" y="2609088"/>
            <a:ext cx="5242560" cy="7071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7" name="Text 20">
            <a:extLst>
              <a:ext uri="{FF2B5EF4-FFF2-40B4-BE49-F238E27FC236}">
                <a16:creationId xmlns:a16="http://schemas.microsoft.com/office/drawing/2014/main" id="{1CB66D8B-25D6-31F4-C0BA-61AD36CA4A55}"/>
              </a:ext>
            </a:extLst>
          </p:cNvPr>
          <p:cNvSpPr/>
          <p:nvPr/>
        </p:nvSpPr>
        <p:spPr>
          <a:xfrm>
            <a:off x="6888480" y="26334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~450/mo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8" name="Text 21">
            <a:extLst>
              <a:ext uri="{FF2B5EF4-FFF2-40B4-BE49-F238E27FC236}">
                <a16:creationId xmlns:a16="http://schemas.microsoft.com/office/drawing/2014/main" id="{59C06FC7-9FDE-E913-B603-27A4640B143A}"/>
              </a:ext>
            </a:extLst>
          </p:cNvPr>
          <p:cNvSpPr/>
          <p:nvPr/>
        </p:nvSpPr>
        <p:spPr>
          <a:xfrm>
            <a:off x="6888480" y="29748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ETAs cut false promises by ~70%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Shape 22">
            <a:extLst>
              <a:ext uri="{FF2B5EF4-FFF2-40B4-BE49-F238E27FC236}">
                <a16:creationId xmlns:a16="http://schemas.microsoft.com/office/drawing/2014/main" id="{CF65041C-7B19-92C4-486B-C84AC749F306}"/>
              </a:ext>
            </a:extLst>
          </p:cNvPr>
          <p:cNvSpPr/>
          <p:nvPr/>
        </p:nvSpPr>
        <p:spPr>
          <a:xfrm>
            <a:off x="487680" y="3364992"/>
            <a:ext cx="5242560" cy="7071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0" name="Image 2" descr="preencoded.png">
            <a:extLst>
              <a:ext uri="{FF2B5EF4-FFF2-40B4-BE49-F238E27FC236}">
                <a16:creationId xmlns:a16="http://schemas.microsoft.com/office/drawing/2014/main" id="{7EEA4967-BF43-D099-8613-FC15A5774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3486912"/>
            <a:ext cx="426720" cy="426720"/>
          </a:xfrm>
          <a:prstGeom prst="rect">
            <a:avLst/>
          </a:prstGeom>
        </p:spPr>
      </p:pic>
      <p:sp>
        <p:nvSpPr>
          <p:cNvPr id="101" name="Text 23">
            <a:extLst>
              <a:ext uri="{FF2B5EF4-FFF2-40B4-BE49-F238E27FC236}">
                <a16:creationId xmlns:a16="http://schemas.microsoft.com/office/drawing/2014/main" id="{35210772-B74F-71FF-61B1-B086EC785EF9}"/>
              </a:ext>
            </a:extLst>
          </p:cNvPr>
          <p:cNvSpPr/>
          <p:nvPr/>
        </p:nvSpPr>
        <p:spPr>
          <a:xfrm>
            <a:off x="1219200" y="3389376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$3,750/mo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2" name="Text 24">
            <a:extLst>
              <a:ext uri="{FF2B5EF4-FFF2-40B4-BE49-F238E27FC236}">
                <a16:creationId xmlns:a16="http://schemas.microsoft.com/office/drawing/2014/main" id="{04FB4121-5C8A-F6F2-353B-D3E6F7582BCC}"/>
              </a:ext>
            </a:extLst>
          </p:cNvPr>
          <p:cNvSpPr/>
          <p:nvPr/>
        </p:nvSpPr>
        <p:spPr>
          <a:xfrm>
            <a:off x="1219200" y="3730752"/>
            <a:ext cx="426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complaints x $2.50 avg resolution cost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" name="Shape 26">
            <a:extLst>
              <a:ext uri="{FF2B5EF4-FFF2-40B4-BE49-F238E27FC236}">
                <a16:creationId xmlns:a16="http://schemas.microsoft.com/office/drawing/2014/main" id="{75A8D66E-D104-AE27-26FC-28E9E60E6B5E}"/>
              </a:ext>
            </a:extLst>
          </p:cNvPr>
          <p:cNvSpPr/>
          <p:nvPr/>
        </p:nvSpPr>
        <p:spPr>
          <a:xfrm>
            <a:off x="6705600" y="3364992"/>
            <a:ext cx="5242560" cy="7071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5" name="Text 27">
            <a:extLst>
              <a:ext uri="{FF2B5EF4-FFF2-40B4-BE49-F238E27FC236}">
                <a16:creationId xmlns:a16="http://schemas.microsoft.com/office/drawing/2014/main" id="{FF7C3965-9C38-EA43-8E6D-BC4B5D79D257}"/>
              </a:ext>
            </a:extLst>
          </p:cNvPr>
          <p:cNvSpPr/>
          <p:nvPr/>
        </p:nvSpPr>
        <p:spPr>
          <a:xfrm>
            <a:off x="6888480" y="33893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$1,125/mo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6" name="Text 28">
            <a:extLst>
              <a:ext uri="{FF2B5EF4-FFF2-40B4-BE49-F238E27FC236}">
                <a16:creationId xmlns:a16="http://schemas.microsoft.com/office/drawing/2014/main" id="{8F758051-5EFF-C462-0CC6-8266193C2AA7}"/>
              </a:ext>
            </a:extLst>
          </p:cNvPr>
          <p:cNvSpPr/>
          <p:nvPr/>
        </p:nvSpPr>
        <p:spPr>
          <a:xfrm>
            <a:off x="6888480" y="37307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fewer complaints = $2,625/mo saved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7" name="Shape 29">
            <a:extLst>
              <a:ext uri="{FF2B5EF4-FFF2-40B4-BE49-F238E27FC236}">
                <a16:creationId xmlns:a16="http://schemas.microsoft.com/office/drawing/2014/main" id="{937A4C51-1EBA-3C2B-F059-3C2FEDE07B40}"/>
              </a:ext>
            </a:extLst>
          </p:cNvPr>
          <p:cNvSpPr/>
          <p:nvPr/>
        </p:nvSpPr>
        <p:spPr>
          <a:xfrm>
            <a:off x="487680" y="4120896"/>
            <a:ext cx="5242560" cy="7071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8" name="Image 3" descr="preencoded.png">
            <a:extLst>
              <a:ext uri="{FF2B5EF4-FFF2-40B4-BE49-F238E27FC236}">
                <a16:creationId xmlns:a16="http://schemas.microsoft.com/office/drawing/2014/main" id="{7E0B0914-BEA2-D22A-ACEE-1741A35EF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4242816"/>
            <a:ext cx="426720" cy="426720"/>
          </a:xfrm>
          <a:prstGeom prst="rect">
            <a:avLst/>
          </a:prstGeom>
        </p:spPr>
      </p:pic>
      <p:sp>
        <p:nvSpPr>
          <p:cNvPr id="109" name="Text 30">
            <a:extLst>
              <a:ext uri="{FF2B5EF4-FFF2-40B4-BE49-F238E27FC236}">
                <a16:creationId xmlns:a16="http://schemas.microsoft.com/office/drawing/2014/main" id="{27B6C3A5-F084-1136-EC92-BAAC364E1B7C}"/>
              </a:ext>
            </a:extLst>
          </p:cNvPr>
          <p:cNvSpPr/>
          <p:nvPr/>
        </p:nvSpPr>
        <p:spPr>
          <a:xfrm>
            <a:off x="1219200" y="414528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~830 hrs/mo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0" name="Text 31">
            <a:extLst>
              <a:ext uri="{FF2B5EF4-FFF2-40B4-BE49-F238E27FC236}">
                <a16:creationId xmlns:a16="http://schemas.microsoft.com/office/drawing/2014/main" id="{3603A9A3-3C53-84D8-7620-6329F1B703B1}"/>
              </a:ext>
            </a:extLst>
          </p:cNvPr>
          <p:cNvSpPr/>
          <p:nvPr/>
        </p:nvSpPr>
        <p:spPr>
          <a:xfrm>
            <a:off x="1219200" y="4486656"/>
            <a:ext cx="426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routing: 5 min wasted per delivery avg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2" name="Shape 33">
            <a:extLst>
              <a:ext uri="{FF2B5EF4-FFF2-40B4-BE49-F238E27FC236}">
                <a16:creationId xmlns:a16="http://schemas.microsoft.com/office/drawing/2014/main" id="{8AA05649-0172-8F25-E8DB-685138BA8D02}"/>
              </a:ext>
            </a:extLst>
          </p:cNvPr>
          <p:cNvSpPr/>
          <p:nvPr/>
        </p:nvSpPr>
        <p:spPr>
          <a:xfrm>
            <a:off x="6705600" y="4120896"/>
            <a:ext cx="5242560" cy="7071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3" name="Text 34">
            <a:extLst>
              <a:ext uri="{FF2B5EF4-FFF2-40B4-BE49-F238E27FC236}">
                <a16:creationId xmlns:a16="http://schemas.microsoft.com/office/drawing/2014/main" id="{139BBF2C-4691-AC90-A944-51265D7F86AD}"/>
              </a:ext>
            </a:extLst>
          </p:cNvPr>
          <p:cNvSpPr/>
          <p:nvPr/>
        </p:nvSpPr>
        <p:spPr>
          <a:xfrm>
            <a:off x="6888480" y="4145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~330 hrs/mo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4" name="Text 35">
            <a:extLst>
              <a:ext uri="{FF2B5EF4-FFF2-40B4-BE49-F238E27FC236}">
                <a16:creationId xmlns:a16="http://schemas.microsoft.com/office/drawing/2014/main" id="{FE94DAA5-5DBE-F828-2D24-8B5993C31EBA}"/>
              </a:ext>
            </a:extLst>
          </p:cNvPr>
          <p:cNvSpPr/>
          <p:nvPr/>
        </p:nvSpPr>
        <p:spPr>
          <a:xfrm>
            <a:off x="6888480" y="44866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dispatch saves ~500 hrs/mo ($4,000)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5" name="Shape 36">
            <a:extLst>
              <a:ext uri="{FF2B5EF4-FFF2-40B4-BE49-F238E27FC236}">
                <a16:creationId xmlns:a16="http://schemas.microsoft.com/office/drawing/2014/main" id="{5A5A4238-0696-18C8-C456-CBD552D459A7}"/>
              </a:ext>
            </a:extLst>
          </p:cNvPr>
          <p:cNvSpPr/>
          <p:nvPr/>
        </p:nvSpPr>
        <p:spPr>
          <a:xfrm>
            <a:off x="487680" y="4876800"/>
            <a:ext cx="5242560" cy="7071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6" name="Image 4" descr="preencoded.png">
            <a:extLst>
              <a:ext uri="{FF2B5EF4-FFF2-40B4-BE49-F238E27FC236}">
                <a16:creationId xmlns:a16="http://schemas.microsoft.com/office/drawing/2014/main" id="{5B6AFF76-44F6-2DA3-BDF1-287CAC697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" y="4998720"/>
            <a:ext cx="426720" cy="426720"/>
          </a:xfrm>
          <a:prstGeom prst="rect">
            <a:avLst/>
          </a:prstGeom>
        </p:spPr>
      </p:pic>
      <p:sp>
        <p:nvSpPr>
          <p:cNvPr id="117" name="Text 37">
            <a:extLst>
              <a:ext uri="{FF2B5EF4-FFF2-40B4-BE49-F238E27FC236}">
                <a16:creationId xmlns:a16="http://schemas.microsoft.com/office/drawing/2014/main" id="{67F16EB3-272F-B653-F9FE-7BC8B44C0D30}"/>
              </a:ext>
            </a:extLst>
          </p:cNvPr>
          <p:cNvSpPr/>
          <p:nvPr/>
        </p:nvSpPr>
        <p:spPr>
          <a:xfrm>
            <a:off x="1219200" y="4901184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+6.6 min/order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8" name="Text 38">
            <a:extLst>
              <a:ext uri="{FF2B5EF4-FFF2-40B4-BE49-F238E27FC236}">
                <a16:creationId xmlns:a16="http://schemas.microsoft.com/office/drawing/2014/main" id="{24C9BAE6-9371-5764-40A6-9A8319FBDA66}"/>
              </a:ext>
            </a:extLst>
          </p:cNvPr>
          <p:cNvSpPr/>
          <p:nvPr/>
        </p:nvSpPr>
        <p:spPr>
          <a:xfrm>
            <a:off x="1219200" y="5242560"/>
            <a:ext cx="426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weather adjustment, surprise delays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0" name="Shape 40">
            <a:extLst>
              <a:ext uri="{FF2B5EF4-FFF2-40B4-BE49-F238E27FC236}">
                <a16:creationId xmlns:a16="http://schemas.microsoft.com/office/drawing/2014/main" id="{B4D79A59-D594-7B56-AA70-046B741017CB}"/>
              </a:ext>
            </a:extLst>
          </p:cNvPr>
          <p:cNvSpPr/>
          <p:nvPr/>
        </p:nvSpPr>
        <p:spPr>
          <a:xfrm>
            <a:off x="6705600" y="4876800"/>
            <a:ext cx="5242560" cy="7071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1" name="Text 41">
            <a:extLst>
              <a:ext uri="{FF2B5EF4-FFF2-40B4-BE49-F238E27FC236}">
                <a16:creationId xmlns:a16="http://schemas.microsoft.com/office/drawing/2014/main" id="{2170C8B5-E1CC-CCC8-F51B-41A1834228B4}"/>
              </a:ext>
            </a:extLst>
          </p:cNvPr>
          <p:cNvSpPr/>
          <p:nvPr/>
        </p:nvSpPr>
        <p:spPr>
          <a:xfrm>
            <a:off x="6888480" y="49011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 min bias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2" name="Text 42">
            <a:extLst>
              <a:ext uri="{FF2B5EF4-FFF2-40B4-BE49-F238E27FC236}">
                <a16:creationId xmlns:a16="http://schemas.microsoft.com/office/drawing/2014/main" id="{8D54C764-9B1D-45D0-5816-05FBA765E095}"/>
              </a:ext>
            </a:extLst>
          </p:cNvPr>
          <p:cNvSpPr/>
          <p:nvPr/>
        </p:nvSpPr>
        <p:spPr>
          <a:xfrm>
            <a:off x="6888480" y="5242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buffer of +6 min absorbs the gap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3" name="Shape 43">
            <a:extLst>
              <a:ext uri="{FF2B5EF4-FFF2-40B4-BE49-F238E27FC236}">
                <a16:creationId xmlns:a16="http://schemas.microsoft.com/office/drawing/2014/main" id="{0965DE62-39E1-85A8-E751-FD3F48C78322}"/>
              </a:ext>
            </a:extLst>
          </p:cNvPr>
          <p:cNvSpPr/>
          <p:nvPr/>
        </p:nvSpPr>
        <p:spPr>
          <a:xfrm>
            <a:off x="487680" y="5730240"/>
            <a:ext cx="1146048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4" name="Text 44">
            <a:extLst>
              <a:ext uri="{FF2B5EF4-FFF2-40B4-BE49-F238E27FC236}">
                <a16:creationId xmlns:a16="http://schemas.microsoft.com/office/drawing/2014/main" id="{0BC884C3-20BB-BC53-8BA9-45787A4DA711}"/>
              </a:ext>
            </a:extLst>
          </p:cNvPr>
          <p:cNvSpPr/>
          <p:nvPr/>
        </p:nvSpPr>
        <p:spPr>
          <a:xfrm>
            <a:off x="731520" y="5730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monthly savings:  </a:t>
            </a:r>
            <a:r>
              <a:rPr lang="en-US" sz="2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$6,625/mo </a:t>
            </a:r>
            <a:r>
              <a:rPr lang="en-US" sz="1733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($79.5K/year)</a:t>
            </a:r>
            <a:r>
              <a:rPr lang="en-US" sz="17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1733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courier hrs/mo saved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Text 11">
            <a:extLst>
              <a:ext uri="{FF2B5EF4-FFF2-40B4-BE49-F238E27FC236}">
                <a16:creationId xmlns:a16="http://schemas.microsoft.com/office/drawing/2014/main" id="{7EA92A75-560B-F25B-BEF9-13B35BBCFAA1}"/>
              </a:ext>
            </a:extLst>
          </p:cNvPr>
          <p:cNvSpPr/>
          <p:nvPr/>
        </p:nvSpPr>
        <p:spPr>
          <a:xfrm>
            <a:off x="9396559" y="1950720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accuracy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" name="Text 18">
            <a:extLst>
              <a:ext uri="{FF2B5EF4-FFF2-40B4-BE49-F238E27FC236}">
                <a16:creationId xmlns:a16="http://schemas.microsoft.com/office/drawing/2014/main" id="{C9FAE99C-C2C0-8B00-F8AE-C3D4E775489C}"/>
              </a:ext>
            </a:extLst>
          </p:cNvPr>
          <p:cNvSpPr/>
          <p:nvPr/>
        </p:nvSpPr>
        <p:spPr>
          <a:xfrm>
            <a:off x="9396559" y="2706624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complaints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3" name="Text 25">
            <a:extLst>
              <a:ext uri="{FF2B5EF4-FFF2-40B4-BE49-F238E27FC236}">
                <a16:creationId xmlns:a16="http://schemas.microsoft.com/office/drawing/2014/main" id="{BE26D2EB-2EB8-4483-D3F4-B14274A0A52F}"/>
              </a:ext>
            </a:extLst>
          </p:cNvPr>
          <p:cNvSpPr/>
          <p:nvPr/>
        </p:nvSpPr>
        <p:spPr>
          <a:xfrm>
            <a:off x="9396559" y="3462528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handling cost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1" name="Text 32">
            <a:extLst>
              <a:ext uri="{FF2B5EF4-FFF2-40B4-BE49-F238E27FC236}">
                <a16:creationId xmlns:a16="http://schemas.microsoft.com/office/drawing/2014/main" id="{6978F4A5-969E-9BA5-82ED-DF9054822154}"/>
              </a:ext>
            </a:extLst>
          </p:cNvPr>
          <p:cNvSpPr/>
          <p:nvPr/>
        </p:nvSpPr>
        <p:spPr>
          <a:xfrm>
            <a:off x="9396559" y="4218432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courier time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9" name="Text 39">
            <a:extLst>
              <a:ext uri="{FF2B5EF4-FFF2-40B4-BE49-F238E27FC236}">
                <a16:creationId xmlns:a16="http://schemas.microsoft.com/office/drawing/2014/main" id="{CE2B59EC-7BBC-2473-1003-25CEB8A724C5}"/>
              </a:ext>
            </a:extLst>
          </p:cNvPr>
          <p:cNvSpPr/>
          <p:nvPr/>
        </p:nvSpPr>
        <p:spPr>
          <a:xfrm>
            <a:off x="9396559" y="4974336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Foggy/rainy day overruns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90324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4524B-4051-AE63-E227-C5936332F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D26757-69DB-DABE-1B74-9C53E87FE7A7}"/>
              </a:ext>
            </a:extLst>
          </p:cNvPr>
          <p:cNvSpPr/>
          <p:nvPr/>
        </p:nvSpPr>
        <p:spPr>
          <a:xfrm>
            <a:off x="609600" y="365760"/>
            <a:ext cx="1219200" cy="426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48B217-73DA-B296-915B-48006BD4FDCE}"/>
              </a:ext>
            </a:extLst>
          </p:cNvPr>
          <p:cNvSpPr/>
          <p:nvPr/>
        </p:nvSpPr>
        <p:spPr>
          <a:xfrm>
            <a:off x="609600" y="365760"/>
            <a:ext cx="1219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D5E81D-1718-63A9-DE20-F6DC15705E6C}"/>
              </a:ext>
            </a:extLst>
          </p:cNvPr>
          <p:cNvSpPr/>
          <p:nvPr/>
        </p:nvSpPr>
        <p:spPr>
          <a:xfrm>
            <a:off x="2011680" y="304800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model drives decisions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BF0E81D-80E3-4055-E07A-5723F1A3CA83}"/>
              </a:ext>
            </a:extLst>
          </p:cNvPr>
          <p:cNvSpPr/>
          <p:nvPr/>
        </p:nvSpPr>
        <p:spPr>
          <a:xfrm>
            <a:off x="487680" y="1158240"/>
            <a:ext cx="5608320" cy="23774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36530BE-3B15-E155-9107-960CB32845B5}"/>
              </a:ext>
            </a:extLst>
          </p:cNvPr>
          <p:cNvSpPr/>
          <p:nvPr/>
        </p:nvSpPr>
        <p:spPr>
          <a:xfrm>
            <a:off x="487680" y="1158240"/>
            <a:ext cx="73152" cy="23774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9C9B8721-002F-2B38-DCE4-F50DC7ED2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41120"/>
            <a:ext cx="426720" cy="42672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0E53EB12-CB89-A63B-2BD5-6D64F1AE3361}"/>
              </a:ext>
            </a:extLst>
          </p:cNvPr>
          <p:cNvSpPr/>
          <p:nvPr/>
        </p:nvSpPr>
        <p:spPr>
          <a:xfrm>
            <a:off x="1280160" y="134112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725459A-A906-70D1-AB4D-B2378949F173}"/>
              </a:ext>
            </a:extLst>
          </p:cNvPr>
          <p:cNvSpPr/>
          <p:nvPr/>
        </p:nvSpPr>
        <p:spPr>
          <a:xfrm>
            <a:off x="3901440" y="1255776"/>
            <a:ext cx="1950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933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5.9 min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258640F-511A-292F-5DCC-AD3D5E9E82E9}"/>
              </a:ext>
            </a:extLst>
          </p:cNvPr>
          <p:cNvSpPr/>
          <p:nvPr/>
        </p:nvSpPr>
        <p:spPr>
          <a:xfrm>
            <a:off x="3901440" y="1645920"/>
            <a:ext cx="1950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D017CEA-B512-8F6E-C4CC-31D705B7186C}"/>
              </a:ext>
            </a:extLst>
          </p:cNvPr>
          <p:cNvSpPr/>
          <p:nvPr/>
        </p:nvSpPr>
        <p:spPr>
          <a:xfrm>
            <a:off x="731520" y="195072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realistic ETAs, not optimistic guesses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EAD9A0F-9DF7-4F60-2AC6-7A39C075AE60}"/>
              </a:ext>
            </a:extLst>
          </p:cNvPr>
          <p:cNvSpPr/>
          <p:nvPr/>
        </p:nvSpPr>
        <p:spPr>
          <a:xfrm>
            <a:off x="731520" y="2438400"/>
            <a:ext cx="5120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get a truthful delivery window. Fewer "where is my order" calls, higher retention.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A5D11C6-6457-FDA2-A755-13140EA22309}"/>
              </a:ext>
            </a:extLst>
          </p:cNvPr>
          <p:cNvSpPr/>
          <p:nvPr/>
        </p:nvSpPr>
        <p:spPr>
          <a:xfrm>
            <a:off x="6461760" y="1158240"/>
            <a:ext cx="5608320" cy="23774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1B8ADC5-62A8-A89A-F937-853C78D44F4E}"/>
              </a:ext>
            </a:extLst>
          </p:cNvPr>
          <p:cNvSpPr/>
          <p:nvPr/>
        </p:nvSpPr>
        <p:spPr>
          <a:xfrm>
            <a:off x="6461760" y="1158240"/>
            <a:ext cx="73152" cy="2377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DFD23355-18EB-DD0F-F490-F2B2EF0BD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1341120"/>
            <a:ext cx="426720" cy="42672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9D20A537-70DB-9607-079E-96C310803975}"/>
              </a:ext>
            </a:extLst>
          </p:cNvPr>
          <p:cNvSpPr/>
          <p:nvPr/>
        </p:nvSpPr>
        <p:spPr>
          <a:xfrm>
            <a:off x="7254240" y="134112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/ Dispatch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AAEAD0C-9945-1F44-4CEF-1FB69E6A189F}"/>
              </a:ext>
            </a:extLst>
          </p:cNvPr>
          <p:cNvSpPr/>
          <p:nvPr/>
        </p:nvSpPr>
        <p:spPr>
          <a:xfrm>
            <a:off x="9875520" y="1255776"/>
            <a:ext cx="1950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933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 min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4A246FBB-9563-84A9-9724-B73D3FB2C68E}"/>
              </a:ext>
            </a:extLst>
          </p:cNvPr>
          <p:cNvSpPr/>
          <p:nvPr/>
        </p:nvSpPr>
        <p:spPr>
          <a:xfrm>
            <a:off x="9875520" y="1645920"/>
            <a:ext cx="1950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SD of distance saved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3658DFD-2AD8-796C-5155-B759D8F5A4A0}"/>
              </a:ext>
            </a:extLst>
          </p:cNvPr>
          <p:cNvSpPr/>
          <p:nvPr/>
        </p:nvSpPr>
        <p:spPr>
          <a:xfrm>
            <a:off x="6705600" y="195072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Pre-assign senior couriers to hard routes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F5B5657-417E-DAD5-8971-74D0475D01F9}"/>
              </a:ext>
            </a:extLst>
          </p:cNvPr>
          <p:cNvSpPr/>
          <p:nvPr/>
        </p:nvSpPr>
        <p:spPr>
          <a:xfrm>
            <a:off x="6705600" y="2438400"/>
            <a:ext cx="5120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long-distance + bad-weather combos. Route experienced couriers there. Cut overruns by 500 hrs/mo.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40EA673D-F7DD-48DE-6949-AF6CD5644658}"/>
              </a:ext>
            </a:extLst>
          </p:cNvPr>
          <p:cNvSpPr/>
          <p:nvPr/>
        </p:nvSpPr>
        <p:spPr>
          <a:xfrm>
            <a:off x="487680" y="3840480"/>
            <a:ext cx="5608320" cy="23774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C9F0AD02-1ECE-80BA-5F51-7DE23B740594}"/>
              </a:ext>
            </a:extLst>
          </p:cNvPr>
          <p:cNvSpPr/>
          <p:nvPr/>
        </p:nvSpPr>
        <p:spPr>
          <a:xfrm>
            <a:off x="487680" y="3840480"/>
            <a:ext cx="73152" cy="2377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D7ABEEF1-E6EF-745E-04B5-4161CAA14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23360"/>
            <a:ext cx="426720" cy="426720"/>
          </a:xfrm>
          <a:prstGeom prst="rect">
            <a:avLst/>
          </a:prstGeom>
        </p:spPr>
      </p:pic>
      <p:sp>
        <p:nvSpPr>
          <p:cNvPr id="24" name="Text 19">
            <a:extLst>
              <a:ext uri="{FF2B5EF4-FFF2-40B4-BE49-F238E27FC236}">
                <a16:creationId xmlns:a16="http://schemas.microsoft.com/office/drawing/2014/main" id="{552D6567-A562-7B63-C9B6-205E808ACFFF}"/>
              </a:ext>
            </a:extLst>
          </p:cNvPr>
          <p:cNvSpPr/>
          <p:nvPr/>
        </p:nvSpPr>
        <p:spPr>
          <a:xfrm>
            <a:off x="1280160" y="402336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Partnerships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918E780B-0D68-B388-4DFA-15BC957411ED}"/>
              </a:ext>
            </a:extLst>
          </p:cNvPr>
          <p:cNvSpPr/>
          <p:nvPr/>
        </p:nvSpPr>
        <p:spPr>
          <a:xfrm>
            <a:off x="3901440" y="3938016"/>
            <a:ext cx="1950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933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min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25490D9B-4E98-E2A2-F85A-A00697B209A2}"/>
              </a:ext>
            </a:extLst>
          </p:cNvPr>
          <p:cNvSpPr/>
          <p:nvPr/>
        </p:nvSpPr>
        <p:spPr>
          <a:xfrm>
            <a:off x="3901440" y="4328160"/>
            <a:ext cx="1950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SD of prep time effect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5BBE612F-FDB5-5E45-97BE-45235FEA8725}"/>
              </a:ext>
            </a:extLst>
          </p:cNvPr>
          <p:cNvSpPr/>
          <p:nvPr/>
        </p:nvSpPr>
        <p:spPr>
          <a:xfrm>
            <a:off x="731520" y="463296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Enforce kitchen prep time SLAs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422FAAEA-EC0A-6CBF-29D4-035B71A3F0FC}"/>
              </a:ext>
            </a:extLst>
          </p:cNvPr>
          <p:cNvSpPr/>
          <p:nvPr/>
        </p:nvSpPr>
        <p:spPr>
          <a:xfrm>
            <a:off x="731520" y="5120640"/>
            <a:ext cx="5120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time is the #2 delay driver. Flag slow restaurants. Renegotiate partner SLAs with data.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E3AD1D63-6A6C-CED2-0062-2FC590EF991F}"/>
              </a:ext>
            </a:extLst>
          </p:cNvPr>
          <p:cNvSpPr/>
          <p:nvPr/>
        </p:nvSpPr>
        <p:spPr>
          <a:xfrm>
            <a:off x="6461760" y="3840480"/>
            <a:ext cx="5608320" cy="23774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85E19928-FF85-F18D-AF19-9BC2DC843FCC}"/>
              </a:ext>
            </a:extLst>
          </p:cNvPr>
          <p:cNvSpPr/>
          <p:nvPr/>
        </p:nvSpPr>
        <p:spPr>
          <a:xfrm>
            <a:off x="6461760" y="3840480"/>
            <a:ext cx="73152" cy="2377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Image 3" descr="preencoded.png">
            <a:extLst>
              <a:ext uri="{FF2B5EF4-FFF2-40B4-BE49-F238E27FC236}">
                <a16:creationId xmlns:a16="http://schemas.microsoft.com/office/drawing/2014/main" id="{E408A41A-174D-454A-8ABF-A66D24EC5C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4023360"/>
            <a:ext cx="426720" cy="426720"/>
          </a:xfrm>
          <a:prstGeom prst="rect">
            <a:avLst/>
          </a:prstGeom>
        </p:spPr>
      </p:pic>
      <p:sp>
        <p:nvSpPr>
          <p:cNvPr id="32" name="Text 26">
            <a:extLst>
              <a:ext uri="{FF2B5EF4-FFF2-40B4-BE49-F238E27FC236}">
                <a16:creationId xmlns:a16="http://schemas.microsoft.com/office/drawing/2014/main" id="{912FE307-1AC3-7898-AC2B-A098D87871F2}"/>
              </a:ext>
            </a:extLst>
          </p:cNvPr>
          <p:cNvSpPr/>
          <p:nvPr/>
        </p:nvSpPr>
        <p:spPr>
          <a:xfrm>
            <a:off x="7254240" y="4023360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Infrastructure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CD00690B-6363-B51C-F82B-CE016983A107}"/>
              </a:ext>
            </a:extLst>
          </p:cNvPr>
          <p:cNvSpPr/>
          <p:nvPr/>
        </p:nvSpPr>
        <p:spPr>
          <a:xfrm>
            <a:off x="9875520" y="3938016"/>
            <a:ext cx="1950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2933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9.6 → ~6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68964E6A-3F47-B7FF-1CFA-850E64E7E949}"/>
              </a:ext>
            </a:extLst>
          </p:cNvPr>
          <p:cNvSpPr/>
          <p:nvPr/>
        </p:nvSpPr>
        <p:spPr>
          <a:xfrm>
            <a:off x="9875520" y="4328160"/>
            <a:ext cx="1950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MAE in foggy conditions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9EED8682-4385-7860-37AD-C4726EE16CBD}"/>
              </a:ext>
            </a:extLst>
          </p:cNvPr>
          <p:cNvSpPr/>
          <p:nvPr/>
        </p:nvSpPr>
        <p:spPr>
          <a:xfrm>
            <a:off x="6705600" y="463296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 in real-time weather &amp; traffic feeds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4FC12027-4029-E03B-BD79-2EC7760641BF}"/>
              </a:ext>
            </a:extLst>
          </p:cNvPr>
          <p:cNvSpPr/>
          <p:nvPr/>
        </p:nvSpPr>
        <p:spPr>
          <a:xfrm>
            <a:off x="6705600" y="5120640"/>
            <a:ext cx="5120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errors are highest in fog/rain. Real-time data closes the gap. Biggest ROI for model v2.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722CA62E-B55E-1F6C-4E15-48E3EAD6720F}"/>
              </a:ext>
            </a:extLst>
          </p:cNvPr>
          <p:cNvSpPr/>
          <p:nvPr/>
        </p:nvSpPr>
        <p:spPr>
          <a:xfrm>
            <a:off x="609600" y="627888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from the model maps to a specific team, a specific action, and a measurable outcome.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80805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E975-8662-E7C4-9C13-B2A2775F4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2EAE55F4-3C9D-EBF4-CC06-BB6340094471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B2193CA-215F-4A0B-740B-0EAA8E3A0281}"/>
              </a:ext>
            </a:extLst>
          </p:cNvPr>
          <p:cNvSpPr/>
          <p:nvPr/>
        </p:nvSpPr>
        <p:spPr>
          <a:xfrm>
            <a:off x="731520" y="426720"/>
            <a:ext cx="1219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ADF05A0-2647-3B67-DDBA-1326268C4660}"/>
              </a:ext>
            </a:extLst>
          </p:cNvPr>
          <p:cNvSpPr/>
          <p:nvPr/>
        </p:nvSpPr>
        <p:spPr>
          <a:xfrm>
            <a:off x="2133600" y="36576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to production</a:t>
            </a:r>
            <a:endParaRPr lang="en-US" sz="3733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69DD986-5A16-1D0A-DE6D-06EE7C27CD0E}"/>
              </a:ext>
            </a:extLst>
          </p:cNvPr>
          <p:cNvSpPr/>
          <p:nvPr/>
        </p:nvSpPr>
        <p:spPr>
          <a:xfrm>
            <a:off x="609600" y="1280160"/>
            <a:ext cx="2560320" cy="4389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E8408EED-357B-4D84-8C99-F515AEDBC80E}"/>
              </a:ext>
            </a:extLst>
          </p:cNvPr>
          <p:cNvSpPr/>
          <p:nvPr/>
        </p:nvSpPr>
        <p:spPr>
          <a:xfrm>
            <a:off x="1280160" y="1524000"/>
            <a:ext cx="1219200" cy="426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C03C8DA-5F9B-FF32-9D5F-AE16EBB4EB7B}"/>
              </a:ext>
            </a:extLst>
          </p:cNvPr>
          <p:cNvSpPr/>
          <p:nvPr/>
        </p:nvSpPr>
        <p:spPr>
          <a:xfrm>
            <a:off x="1280160" y="1524000"/>
            <a:ext cx="1219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BFCE465-CD1C-4AAA-5E07-1A7A60D8DE8E}"/>
              </a:ext>
            </a:extLst>
          </p:cNvPr>
          <p:cNvSpPr/>
          <p:nvPr/>
        </p:nvSpPr>
        <p:spPr>
          <a:xfrm>
            <a:off x="792480" y="2255520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+ Model</a:t>
            </a:r>
            <a:endParaRPr lang="en-US" sz="200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9D016B7-68B4-3D6B-87FF-2AB493CA1CD8}"/>
              </a:ext>
            </a:extLst>
          </p:cNvPr>
          <p:cNvSpPr/>
          <p:nvPr/>
        </p:nvSpPr>
        <p:spPr>
          <a:xfrm>
            <a:off x="792480" y="31089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live. Returns ETA + 80% CI. Modular pipeline. Health checks included.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A6ACC72B-502E-F0D5-1644-549A6CEE31E2}"/>
              </a:ext>
            </a:extLst>
          </p:cNvPr>
          <p:cNvSpPr/>
          <p:nvPr/>
        </p:nvSpPr>
        <p:spPr>
          <a:xfrm>
            <a:off x="3474720" y="1280160"/>
            <a:ext cx="2560320" cy="4389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CC0845DF-5BF4-7B6C-A061-FBEC42605C9E}"/>
              </a:ext>
            </a:extLst>
          </p:cNvPr>
          <p:cNvSpPr/>
          <p:nvPr/>
        </p:nvSpPr>
        <p:spPr>
          <a:xfrm>
            <a:off x="4145280" y="1524000"/>
            <a:ext cx="1219200" cy="426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1479BFB-97A7-1209-5574-F2F6AFC37777}"/>
              </a:ext>
            </a:extLst>
          </p:cNvPr>
          <p:cNvSpPr/>
          <p:nvPr/>
        </p:nvSpPr>
        <p:spPr>
          <a:xfrm>
            <a:off x="4145280" y="1524000"/>
            <a:ext cx="1219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1165052-942C-BF92-F820-6874BF803CF9}"/>
              </a:ext>
            </a:extLst>
          </p:cNvPr>
          <p:cNvSpPr/>
          <p:nvPr/>
        </p:nvSpPr>
        <p:spPr>
          <a:xfrm>
            <a:off x="3657600" y="2255520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+ CI/CD</a:t>
            </a:r>
            <a:endParaRPr lang="en-US" sz="200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1206AFB-A835-2F31-2A9D-7292C25FAC1B}"/>
              </a:ext>
            </a:extLst>
          </p:cNvPr>
          <p:cNvSpPr/>
          <p:nvPr/>
        </p:nvSpPr>
        <p:spPr>
          <a:xfrm>
            <a:off x="3657600" y="31089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the service. GitHub Actions for automated testing and deployment.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55F89A9-572A-66E3-8215-1AE020E5D8BA}"/>
              </a:ext>
            </a:extLst>
          </p:cNvPr>
          <p:cNvSpPr/>
          <p:nvPr/>
        </p:nvSpPr>
        <p:spPr>
          <a:xfrm>
            <a:off x="6339840" y="1280160"/>
            <a:ext cx="2560320" cy="4389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6BF1198-B872-71B4-93B7-96AF48D0BE9F}"/>
              </a:ext>
            </a:extLst>
          </p:cNvPr>
          <p:cNvSpPr/>
          <p:nvPr/>
        </p:nvSpPr>
        <p:spPr>
          <a:xfrm>
            <a:off x="7010400" y="1524000"/>
            <a:ext cx="1219200" cy="426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8CED11C3-AAF0-5707-1DDB-910935F0F648}"/>
              </a:ext>
            </a:extLst>
          </p:cNvPr>
          <p:cNvSpPr/>
          <p:nvPr/>
        </p:nvSpPr>
        <p:spPr>
          <a:xfrm>
            <a:off x="7010400" y="1524000"/>
            <a:ext cx="1219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14A0CF75-D12B-D472-783E-129ECAF31D90}"/>
              </a:ext>
            </a:extLst>
          </p:cNvPr>
          <p:cNvSpPr/>
          <p:nvPr/>
        </p:nvSpPr>
        <p:spPr>
          <a:xfrm>
            <a:off x="6522720" y="2255520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MLflow + Monitoring</a:t>
            </a:r>
            <a:endParaRPr lang="en-US" sz="200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758F8BCA-1D17-36DD-DAC8-8E2C8112E9EF}"/>
              </a:ext>
            </a:extLst>
          </p:cNvPr>
          <p:cNvSpPr/>
          <p:nvPr/>
        </p:nvSpPr>
        <p:spPr>
          <a:xfrm>
            <a:off x="6522720" y="31089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with versioning. Evidently for data drift. MAE threshold alerts.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018D491F-E8B2-605D-9BD4-2F14AB79F443}"/>
              </a:ext>
            </a:extLst>
          </p:cNvPr>
          <p:cNvSpPr/>
          <p:nvPr/>
        </p:nvSpPr>
        <p:spPr>
          <a:xfrm>
            <a:off x="9204960" y="1280160"/>
            <a:ext cx="2560320" cy="4389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ECBBB250-39F4-9A43-D5CF-2094E35765BC}"/>
              </a:ext>
            </a:extLst>
          </p:cNvPr>
          <p:cNvSpPr/>
          <p:nvPr/>
        </p:nvSpPr>
        <p:spPr>
          <a:xfrm>
            <a:off x="9875520" y="1524000"/>
            <a:ext cx="1219200" cy="426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0B9640A2-D652-99ED-A0F0-2AA9544B69FA}"/>
              </a:ext>
            </a:extLst>
          </p:cNvPr>
          <p:cNvSpPr/>
          <p:nvPr/>
        </p:nvSpPr>
        <p:spPr>
          <a:xfrm>
            <a:off x="9875520" y="1524000"/>
            <a:ext cx="1219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8981BBBC-8A9C-36DD-880A-F2316C54794B}"/>
              </a:ext>
            </a:extLst>
          </p:cNvPr>
          <p:cNvSpPr/>
          <p:nvPr/>
        </p:nvSpPr>
        <p:spPr>
          <a:xfrm>
            <a:off x="9387840" y="2255520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Retrain + A/B</a:t>
            </a:r>
            <a:endParaRPr lang="en-US" sz="200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2FDDE73F-449E-6CC5-A0C8-93755108C48A}"/>
              </a:ext>
            </a:extLst>
          </p:cNvPr>
          <p:cNvSpPr/>
          <p:nvPr/>
        </p:nvSpPr>
        <p:spPr>
          <a:xfrm>
            <a:off x="9387840" y="31089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retraining with fresh data. A/B test predicted ETA vs current rules.</a:t>
            </a:r>
            <a:endParaRPr lang="en-US" sz="1467" dirty="0">
              <a:solidFill>
                <a:prstClr val="black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39206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8AA58-1DD6-3DAD-E468-537935B17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720A99D8-7E2A-9D80-B763-311D880A2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143" y="1153724"/>
            <a:ext cx="853440" cy="85344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5F17B190-501F-EFB4-6E41-7FBF5A9F4D87}"/>
              </a:ext>
            </a:extLst>
          </p:cNvPr>
          <p:cNvSpPr/>
          <p:nvPr/>
        </p:nvSpPr>
        <p:spPr>
          <a:xfrm>
            <a:off x="3187983" y="2007164"/>
            <a:ext cx="102412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5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34719F12-0CB6-6D47-C259-8EC9933718B8}"/>
              </a:ext>
            </a:extLst>
          </p:cNvPr>
          <p:cNvSpPr/>
          <p:nvPr/>
        </p:nvSpPr>
        <p:spPr>
          <a:xfrm>
            <a:off x="4041423" y="3348284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codebase, documentation, and live API in the repository.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EF63B5BC-73C3-533F-B075-97FF27D3C6DC}"/>
              </a:ext>
            </a:extLst>
          </p:cNvPr>
          <p:cNvSpPr/>
          <p:nvPr/>
        </p:nvSpPr>
        <p:spPr>
          <a:xfrm>
            <a:off x="5260623" y="4323644"/>
            <a:ext cx="6096000" cy="7315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3">
            <a:hlinkClick r:id="rId3"/>
            <a:extLst>
              <a:ext uri="{FF2B5EF4-FFF2-40B4-BE49-F238E27FC236}">
                <a16:creationId xmlns:a16="http://schemas.microsoft.com/office/drawing/2014/main" id="{288C6F5E-AB07-8473-2232-DAC64F6360E0}"/>
              </a:ext>
            </a:extLst>
          </p:cNvPr>
          <p:cNvSpPr/>
          <p:nvPr/>
        </p:nvSpPr>
        <p:spPr>
          <a:xfrm>
            <a:off x="5260623" y="4323644"/>
            <a:ext cx="609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github.com/juanpapcm/food-delivery-intelligence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7892466-12E1-6622-F36D-49EA24F31FC6}"/>
              </a:ext>
            </a:extLst>
          </p:cNvPr>
          <p:cNvSpPr/>
          <p:nvPr/>
        </p:nvSpPr>
        <p:spPr>
          <a:xfrm>
            <a:off x="3187983" y="5542844"/>
            <a:ext cx="10241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Pablo Perez-Cerda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96382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7E5B6D-3D05-46A8-0A5D-F8966B08D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33B6AD-C36D-78E8-21DA-8D22E08C5CB4}"/>
              </a:ext>
            </a:extLst>
          </p:cNvPr>
          <p:cNvSpPr/>
          <p:nvPr/>
        </p:nvSpPr>
        <p:spPr>
          <a:xfrm>
            <a:off x="609600" y="365760"/>
            <a:ext cx="1463040" cy="4267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0D657E-9617-4F83-3C8C-A3FED8A8AC79}"/>
              </a:ext>
            </a:extLst>
          </p:cNvPr>
          <p:cNvSpPr/>
          <p:nvPr/>
        </p:nvSpPr>
        <p:spPr>
          <a:xfrm>
            <a:off x="609600" y="36576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3DA5F3EF-E79A-40AF-5922-5BF7D6BF40E3}"/>
              </a:ext>
            </a:extLst>
          </p:cNvPr>
          <p:cNvSpPr/>
          <p:nvPr/>
        </p:nvSpPr>
        <p:spPr>
          <a:xfrm>
            <a:off x="2255520" y="304800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Assumptions &amp; methodology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8396E047-712E-9402-F113-6D7F32909E06}"/>
              </a:ext>
            </a:extLst>
          </p:cNvPr>
          <p:cNvSpPr/>
          <p:nvPr/>
        </p:nvSpPr>
        <p:spPr>
          <a:xfrm>
            <a:off x="487680" y="1158240"/>
            <a:ext cx="5608320" cy="4876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8BA8CCF0-A1FA-7B51-59E9-A7F767B4AED8}"/>
              </a:ext>
            </a:extLst>
          </p:cNvPr>
          <p:cNvSpPr/>
          <p:nvPr/>
        </p:nvSpPr>
        <p:spPr>
          <a:xfrm>
            <a:off x="487680" y="1158240"/>
            <a:ext cx="5608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 from data (real)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69387D9B-56C8-EEC8-BF19-8FE732EA711A}"/>
              </a:ext>
            </a:extLst>
          </p:cNvPr>
          <p:cNvSpPr/>
          <p:nvPr/>
        </p:nvSpPr>
        <p:spPr>
          <a:xfrm>
            <a:off x="487680" y="1767840"/>
            <a:ext cx="5608320" cy="5364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7C64FF2A-CE9E-76B9-4319-E4E4CD0923F4}"/>
              </a:ext>
            </a:extLst>
          </p:cNvPr>
          <p:cNvSpPr/>
          <p:nvPr/>
        </p:nvSpPr>
        <p:spPr>
          <a:xfrm>
            <a:off x="670560" y="18044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5.9 min MAE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67CEBCD8-0326-6D40-4391-4BCA70A691B6}"/>
              </a:ext>
            </a:extLst>
          </p:cNvPr>
          <p:cNvSpPr/>
          <p:nvPr/>
        </p:nvSpPr>
        <p:spPr>
          <a:xfrm>
            <a:off x="670560" y="2011680"/>
            <a:ext cx="5242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 (n=200), 80/20 split, random_state fixed for reproducibility.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6D5E9F28-9CD0-D9A6-D0D9-D3EAEA7AA9D4}"/>
              </a:ext>
            </a:extLst>
          </p:cNvPr>
          <p:cNvSpPr/>
          <p:nvPr/>
        </p:nvSpPr>
        <p:spPr>
          <a:xfrm>
            <a:off x="487680" y="2401824"/>
            <a:ext cx="5608320" cy="5364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A684D11F-7162-3085-EC67-055B70A70E2D}"/>
              </a:ext>
            </a:extLst>
          </p:cNvPr>
          <p:cNvSpPr/>
          <p:nvPr/>
        </p:nvSpPr>
        <p:spPr>
          <a:xfrm>
            <a:off x="670560" y="24384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= 0.832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48C33D1B-2353-5A83-9932-7FB08CC0160D}"/>
              </a:ext>
            </a:extLst>
          </p:cNvPr>
          <p:cNvSpPr/>
          <p:nvPr/>
        </p:nvSpPr>
        <p:spPr>
          <a:xfrm>
            <a:off x="670560" y="2645664"/>
            <a:ext cx="5242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set. 3 features (distance, prep, traffic) explain 83% of variance.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7DAF0A6D-1DBB-992B-A812-7A837C65DD67}"/>
              </a:ext>
            </a:extLst>
          </p:cNvPr>
          <p:cNvSpPr/>
          <p:nvPr/>
        </p:nvSpPr>
        <p:spPr>
          <a:xfrm>
            <a:off x="487680" y="3035808"/>
            <a:ext cx="5608320" cy="5364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C6F69CD9-30D4-8241-9762-22F3AA3EDC79}"/>
              </a:ext>
            </a:extLst>
          </p:cNvPr>
          <p:cNvSpPr/>
          <p:nvPr/>
        </p:nvSpPr>
        <p:spPr>
          <a:xfrm>
            <a:off x="670560" y="30723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= 0.78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2A84891A-C595-C810-EBB7-973C188EA271}"/>
              </a:ext>
            </a:extLst>
          </p:cNvPr>
          <p:cNvSpPr/>
          <p:nvPr/>
        </p:nvSpPr>
        <p:spPr>
          <a:xfrm>
            <a:off x="670560" y="3279648"/>
            <a:ext cx="5242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correlation, Distance_km vs Delivery_Time_min, full dataset (n=1,000), p &lt; 0.0001.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98B94B9F-BAB6-A968-68CE-78F30FCDEA85}"/>
              </a:ext>
            </a:extLst>
          </p:cNvPr>
          <p:cNvSpPr/>
          <p:nvPr/>
        </p:nvSpPr>
        <p:spPr>
          <a:xfrm>
            <a:off x="487680" y="3669792"/>
            <a:ext cx="5608320" cy="5364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E212ACFE-7DFB-7439-10BB-2ED6CF9EEE9F}"/>
              </a:ext>
            </a:extLst>
          </p:cNvPr>
          <p:cNvSpPr/>
          <p:nvPr/>
        </p:nvSpPr>
        <p:spPr>
          <a:xfrm>
            <a:off x="670560" y="37063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+11.9 min traffic gap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464CBF70-8A7A-8449-FC59-115B88B48BA8}"/>
              </a:ext>
            </a:extLst>
          </p:cNvPr>
          <p:cNvSpPr/>
          <p:nvPr/>
        </p:nvSpPr>
        <p:spPr>
          <a:xfrm>
            <a:off x="670560" y="3913632"/>
            <a:ext cx="5242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delivery time: High=64.8 min vs Low=52.9 min. Raw data, no model needed.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3F941702-4EFC-959B-E0D6-56B135B56436}"/>
              </a:ext>
            </a:extLst>
          </p:cNvPr>
          <p:cNvSpPr/>
          <p:nvPr/>
        </p:nvSpPr>
        <p:spPr>
          <a:xfrm>
            <a:off x="487680" y="4303776"/>
            <a:ext cx="5608320" cy="5364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8311FDE1-3B54-129F-B1C6-F34196E50763}"/>
              </a:ext>
            </a:extLst>
          </p:cNvPr>
          <p:cNvSpPr/>
          <p:nvPr/>
        </p:nvSpPr>
        <p:spPr>
          <a:xfrm>
            <a:off x="670560" y="43403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+6.6 min weather gap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52A7E6D3-B2C0-83E1-F4A2-541167D0DB25}"/>
              </a:ext>
            </a:extLst>
          </p:cNvPr>
          <p:cNvSpPr/>
          <p:nvPr/>
        </p:nvSpPr>
        <p:spPr>
          <a:xfrm>
            <a:off x="670560" y="4547616"/>
            <a:ext cx="5242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Foggy+Rainy=59.7 min vs Clear=53.1 min. (n=307 adverse, n=470 clear).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0F060889-F80A-E3F7-A23F-B2D96F8DB4FE}"/>
              </a:ext>
            </a:extLst>
          </p:cNvPr>
          <p:cNvSpPr/>
          <p:nvPr/>
        </p:nvSpPr>
        <p:spPr>
          <a:xfrm>
            <a:off x="487680" y="4937760"/>
            <a:ext cx="5608320" cy="5364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7259FC11-2E5E-0C5E-89C9-A8B46A8656E7}"/>
              </a:ext>
            </a:extLst>
          </p:cNvPr>
          <p:cNvSpPr/>
          <p:nvPr/>
        </p:nvSpPr>
        <p:spPr>
          <a:xfrm>
            <a:off x="670560" y="49743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+5.51 min foggy bias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CE618F06-B7AC-D4FC-CB32-4174FA507D2F}"/>
              </a:ext>
            </a:extLst>
          </p:cNvPr>
          <p:cNvSpPr/>
          <p:nvPr/>
        </p:nvSpPr>
        <p:spPr>
          <a:xfrm>
            <a:off x="670560" y="5181600"/>
            <a:ext cx="5242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underestimates foggy deliveries by 5.51 min avg on test set (n=21).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0920DB19-05EE-8B45-6066-6BDF5107CBA6}"/>
              </a:ext>
            </a:extLst>
          </p:cNvPr>
          <p:cNvSpPr/>
          <p:nvPr/>
        </p:nvSpPr>
        <p:spPr>
          <a:xfrm>
            <a:off x="487680" y="5571744"/>
            <a:ext cx="5608320" cy="5364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5D032539-B6BA-E8EC-DEC8-8A441264A595}"/>
              </a:ext>
            </a:extLst>
          </p:cNvPr>
          <p:cNvSpPr/>
          <p:nvPr/>
        </p:nvSpPr>
        <p:spPr>
          <a:xfrm>
            <a:off x="670560" y="5608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-0.63 min/yr experience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B931824C-02A0-99DA-8A22-311C5E193DD3}"/>
              </a:ext>
            </a:extLst>
          </p:cNvPr>
          <p:cNvSpPr/>
          <p:nvPr/>
        </p:nvSpPr>
        <p:spPr>
          <a:xfrm>
            <a:off x="670560" y="5815584"/>
            <a:ext cx="5242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coefficient. Each year of courier experience saves 0.63 min.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CB6357AB-9E7B-AE45-ECBD-A69633B6EEBC}"/>
              </a:ext>
            </a:extLst>
          </p:cNvPr>
          <p:cNvSpPr/>
          <p:nvPr/>
        </p:nvSpPr>
        <p:spPr>
          <a:xfrm>
            <a:off x="6339840" y="1158240"/>
            <a:ext cx="5608320" cy="487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4D3AD6F9-D339-BC62-77F9-DDBD3D2A4DC2}"/>
              </a:ext>
            </a:extLst>
          </p:cNvPr>
          <p:cNvSpPr/>
          <p:nvPr/>
        </p:nvSpPr>
        <p:spPr>
          <a:xfrm>
            <a:off x="6339840" y="1158240"/>
            <a:ext cx="5608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assumptions (estimated)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0EF28960-CD4C-1E8D-0CA8-A5A4D26F75AA}"/>
              </a:ext>
            </a:extLst>
          </p:cNvPr>
          <p:cNvSpPr/>
          <p:nvPr/>
        </p:nvSpPr>
        <p:spPr>
          <a:xfrm>
            <a:off x="6339840" y="1767840"/>
            <a:ext cx="5608320" cy="5364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3FE8826E-AA44-DF18-498A-E14495BDFB2B}"/>
              </a:ext>
            </a:extLst>
          </p:cNvPr>
          <p:cNvSpPr/>
          <p:nvPr/>
        </p:nvSpPr>
        <p:spPr>
          <a:xfrm>
            <a:off x="6522720" y="1792224"/>
            <a:ext cx="524256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10K deliveries/month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B936B218-CB34-2924-F07C-A4112CDF2E59}"/>
              </a:ext>
            </a:extLst>
          </p:cNvPr>
          <p:cNvSpPr/>
          <p:nvPr/>
        </p:nvSpPr>
        <p:spPr>
          <a:xfrm>
            <a:off x="6522720" y="1999488"/>
            <a:ext cx="5242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urban platform. Scalable: multiply savings linearly for higher volume.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9939AA50-BDBA-8FC3-026C-13AD8074F008}"/>
              </a:ext>
            </a:extLst>
          </p:cNvPr>
          <p:cNvSpPr/>
          <p:nvPr/>
        </p:nvSpPr>
        <p:spPr>
          <a:xfrm>
            <a:off x="6339840" y="2401824"/>
            <a:ext cx="5608320" cy="5364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61B459FE-1CA7-3351-264A-289AA454EE2C}"/>
              </a:ext>
            </a:extLst>
          </p:cNvPr>
          <p:cNvSpPr/>
          <p:nvPr/>
        </p:nvSpPr>
        <p:spPr>
          <a:xfrm>
            <a:off x="6522720" y="2426208"/>
            <a:ext cx="524256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$2.50 avg cost/complaint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33">
            <a:extLst>
              <a:ext uri="{FF2B5EF4-FFF2-40B4-BE49-F238E27FC236}">
                <a16:creationId xmlns:a16="http://schemas.microsoft.com/office/drawing/2014/main" id="{E4ECDE5D-E556-383F-7A82-DDD909FAB071}"/>
              </a:ext>
            </a:extLst>
          </p:cNvPr>
          <p:cNvSpPr/>
          <p:nvPr/>
        </p:nvSpPr>
        <p:spPr>
          <a:xfrm>
            <a:off x="6522720" y="2633472"/>
            <a:ext cx="5242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benchmark. Includes CS agent time (~5 min at $20/hr) + coupon/refund cost. Source: McKinsey last-mile logistics report.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34">
            <a:extLst>
              <a:ext uri="{FF2B5EF4-FFF2-40B4-BE49-F238E27FC236}">
                <a16:creationId xmlns:a16="http://schemas.microsoft.com/office/drawing/2014/main" id="{E799E479-CE13-259E-3543-CF0A2F5B7C67}"/>
              </a:ext>
            </a:extLst>
          </p:cNvPr>
          <p:cNvSpPr/>
          <p:nvPr/>
        </p:nvSpPr>
        <p:spPr>
          <a:xfrm>
            <a:off x="6339840" y="3035808"/>
            <a:ext cx="5608320" cy="5364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9792F186-8AC2-A5B3-DBB6-CD67BE968059}"/>
              </a:ext>
            </a:extLst>
          </p:cNvPr>
          <p:cNvSpPr/>
          <p:nvPr/>
        </p:nvSpPr>
        <p:spPr>
          <a:xfrm>
            <a:off x="6522720" y="3060192"/>
            <a:ext cx="524256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 complaint rate (no model)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36">
            <a:extLst>
              <a:ext uri="{FF2B5EF4-FFF2-40B4-BE49-F238E27FC236}">
                <a16:creationId xmlns:a16="http://schemas.microsoft.com/office/drawing/2014/main" id="{EC8D57F9-290C-1491-3FAB-C1C839798CE8}"/>
              </a:ext>
            </a:extLst>
          </p:cNvPr>
          <p:cNvSpPr/>
          <p:nvPr/>
        </p:nvSpPr>
        <p:spPr>
          <a:xfrm>
            <a:off x="6522720" y="3267456"/>
            <a:ext cx="5242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industry average for late-delivery complaints when ETA accuracy is &gt;15 min. Source: Bain retail ops survey.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37">
            <a:extLst>
              <a:ext uri="{FF2B5EF4-FFF2-40B4-BE49-F238E27FC236}">
                <a16:creationId xmlns:a16="http://schemas.microsoft.com/office/drawing/2014/main" id="{C68FF25A-3A43-2E51-C7FD-1786BE015B91}"/>
              </a:ext>
            </a:extLst>
          </p:cNvPr>
          <p:cNvSpPr/>
          <p:nvPr/>
        </p:nvSpPr>
        <p:spPr>
          <a:xfrm>
            <a:off x="6339840" y="3669792"/>
            <a:ext cx="5608320" cy="5364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38">
            <a:extLst>
              <a:ext uri="{FF2B5EF4-FFF2-40B4-BE49-F238E27FC236}">
                <a16:creationId xmlns:a16="http://schemas.microsoft.com/office/drawing/2014/main" id="{B3E72BE1-8733-029F-E2A9-C36987C19838}"/>
              </a:ext>
            </a:extLst>
          </p:cNvPr>
          <p:cNvSpPr/>
          <p:nvPr/>
        </p:nvSpPr>
        <p:spPr>
          <a:xfrm>
            <a:off x="6522720" y="3694176"/>
            <a:ext cx="524256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~70% complaint reduction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39">
            <a:extLst>
              <a:ext uri="{FF2B5EF4-FFF2-40B4-BE49-F238E27FC236}">
                <a16:creationId xmlns:a16="http://schemas.microsoft.com/office/drawing/2014/main" id="{E6C4437D-4A55-D147-1D1A-BFDD95DBD912}"/>
              </a:ext>
            </a:extLst>
          </p:cNvPr>
          <p:cNvSpPr/>
          <p:nvPr/>
        </p:nvSpPr>
        <p:spPr>
          <a:xfrm>
            <a:off x="6522720" y="3901440"/>
            <a:ext cx="5242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Conservative. If ETA error drops from ~17 min to 5.9 min, most "late" deliveries are now within the promised window.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Shape 40">
            <a:extLst>
              <a:ext uri="{FF2B5EF4-FFF2-40B4-BE49-F238E27FC236}">
                <a16:creationId xmlns:a16="http://schemas.microsoft.com/office/drawing/2014/main" id="{2BF7AE9B-584F-8C59-9696-50755949AFD8}"/>
              </a:ext>
            </a:extLst>
          </p:cNvPr>
          <p:cNvSpPr/>
          <p:nvPr/>
        </p:nvSpPr>
        <p:spPr>
          <a:xfrm>
            <a:off x="6339840" y="4303776"/>
            <a:ext cx="5608320" cy="5364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41">
            <a:extLst>
              <a:ext uri="{FF2B5EF4-FFF2-40B4-BE49-F238E27FC236}">
                <a16:creationId xmlns:a16="http://schemas.microsoft.com/office/drawing/2014/main" id="{26B87AAC-1FA2-F9B8-B93F-F6DF7F973B6D}"/>
              </a:ext>
            </a:extLst>
          </p:cNvPr>
          <p:cNvSpPr/>
          <p:nvPr/>
        </p:nvSpPr>
        <p:spPr>
          <a:xfrm>
            <a:off x="6522720" y="4328160"/>
            <a:ext cx="524256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$8/hr courier cost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42">
            <a:extLst>
              <a:ext uri="{FF2B5EF4-FFF2-40B4-BE49-F238E27FC236}">
                <a16:creationId xmlns:a16="http://schemas.microsoft.com/office/drawing/2014/main" id="{3C419546-343B-0759-40DC-DD43BF3D6CA5}"/>
              </a:ext>
            </a:extLst>
          </p:cNvPr>
          <p:cNvSpPr/>
          <p:nvPr/>
        </p:nvSpPr>
        <p:spPr>
          <a:xfrm>
            <a:off x="6522720" y="4535424"/>
            <a:ext cx="5242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rate for gig couriers in emerging markets. Adjust per region. US/EU would be $15-25/hr (savings scale up).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43">
            <a:extLst>
              <a:ext uri="{FF2B5EF4-FFF2-40B4-BE49-F238E27FC236}">
                <a16:creationId xmlns:a16="http://schemas.microsoft.com/office/drawing/2014/main" id="{3F4BEFFB-EABD-3D3F-1250-974BE83070F2}"/>
              </a:ext>
            </a:extLst>
          </p:cNvPr>
          <p:cNvSpPr/>
          <p:nvPr/>
        </p:nvSpPr>
        <p:spPr>
          <a:xfrm>
            <a:off x="6339840" y="4937760"/>
            <a:ext cx="5608320" cy="5364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44">
            <a:extLst>
              <a:ext uri="{FF2B5EF4-FFF2-40B4-BE49-F238E27FC236}">
                <a16:creationId xmlns:a16="http://schemas.microsoft.com/office/drawing/2014/main" id="{78C5AC24-F24B-308A-AFC3-6E1E7EC3BD6A}"/>
              </a:ext>
            </a:extLst>
          </p:cNvPr>
          <p:cNvSpPr/>
          <p:nvPr/>
        </p:nvSpPr>
        <p:spPr>
          <a:xfrm>
            <a:off x="6522720" y="4962144"/>
            <a:ext cx="524256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min wasted/delivery (no model)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45">
            <a:extLst>
              <a:ext uri="{FF2B5EF4-FFF2-40B4-BE49-F238E27FC236}">
                <a16:creationId xmlns:a16="http://schemas.microsoft.com/office/drawing/2014/main" id="{65917560-7BCA-9263-2E1F-BC8692BCBA4A}"/>
              </a:ext>
            </a:extLst>
          </p:cNvPr>
          <p:cNvSpPr/>
          <p:nvPr/>
        </p:nvSpPr>
        <p:spPr>
          <a:xfrm>
            <a:off x="6522720" y="5169408"/>
            <a:ext cx="5242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 routing = suboptimal courier-to-order matching. Conservative estimate from dispatch optimization literature.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Shape 46">
            <a:extLst>
              <a:ext uri="{FF2B5EF4-FFF2-40B4-BE49-F238E27FC236}">
                <a16:creationId xmlns:a16="http://schemas.microsoft.com/office/drawing/2014/main" id="{9DDCB7A7-0372-904F-CCE9-369374AFF64E}"/>
              </a:ext>
            </a:extLst>
          </p:cNvPr>
          <p:cNvSpPr/>
          <p:nvPr/>
        </p:nvSpPr>
        <p:spPr>
          <a:xfrm>
            <a:off x="6339840" y="5571744"/>
            <a:ext cx="5608320" cy="5364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47">
            <a:extLst>
              <a:ext uri="{FF2B5EF4-FFF2-40B4-BE49-F238E27FC236}">
                <a16:creationId xmlns:a16="http://schemas.microsoft.com/office/drawing/2014/main" id="{74E84D5B-6169-80F9-A1CF-A8A7CBC85C82}"/>
              </a:ext>
            </a:extLst>
          </p:cNvPr>
          <p:cNvSpPr/>
          <p:nvPr/>
        </p:nvSpPr>
        <p:spPr>
          <a:xfrm>
            <a:off x="6522720" y="5596128"/>
            <a:ext cx="524256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~40% courier time savings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48">
            <a:extLst>
              <a:ext uri="{FF2B5EF4-FFF2-40B4-BE49-F238E27FC236}">
                <a16:creationId xmlns:a16="http://schemas.microsoft.com/office/drawing/2014/main" id="{99C1BAEB-2B30-2467-EBE5-6B35DCD447EE}"/>
              </a:ext>
            </a:extLst>
          </p:cNvPr>
          <p:cNvSpPr/>
          <p:nvPr/>
        </p:nvSpPr>
        <p:spPr>
          <a:xfrm>
            <a:off x="6522720" y="5803392"/>
            <a:ext cx="5242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Model-informed dispatch reduces idle time and misroutes. 5 min waste drops to ~2 min with predicted difficulty scores.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49">
            <a:extLst>
              <a:ext uri="{FF2B5EF4-FFF2-40B4-BE49-F238E27FC236}">
                <a16:creationId xmlns:a16="http://schemas.microsoft.com/office/drawing/2014/main" id="{28CADDDA-2478-EBD3-4C51-6DCCACAD11A0}"/>
              </a:ext>
            </a:extLst>
          </p:cNvPr>
          <p:cNvSpPr/>
          <p:nvPr/>
        </p:nvSpPr>
        <p:spPr>
          <a:xfrm>
            <a:off x="487680" y="6217920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Left column: extracted directly from the dataset and model pipeline. Right column: industry benchmarks and conservative estimates - flagged as assumptions, not facts.</a:t>
            </a:r>
            <a:endParaRPr lang="en-US" sz="1133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4048903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736EBA6C-ACBC-F547-A08F-92C6971B7135}" vid="{1EE347E0-8335-5147-81A5-D10B6125FD6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1510</Words>
  <Application>Microsoft Macintosh PowerPoint</Application>
  <PresentationFormat>Widescreen</PresentationFormat>
  <Paragraphs>213</Paragraphs>
  <Slides>15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Trebuchet MS</vt:lpstr>
      <vt:lpstr>1_Office Theme</vt:lpstr>
      <vt:lpstr>2_Office Theme</vt:lpstr>
      <vt:lpstr>Food Delivery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Pablo Pérez-Cerdá Maldonado</dc:creator>
  <cp:lastModifiedBy>Juan Pablo Pérez-Cerdá Maldonado</cp:lastModifiedBy>
  <cp:revision>9</cp:revision>
  <dcterms:created xsi:type="dcterms:W3CDTF">2026-04-21T02:44:12Z</dcterms:created>
  <dcterms:modified xsi:type="dcterms:W3CDTF">2026-04-21T20:42:31Z</dcterms:modified>
</cp:coreProperties>
</file>